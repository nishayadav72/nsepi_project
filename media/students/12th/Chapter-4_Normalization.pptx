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1D6B3F0-7057-40AB-A0D1-9A67E201FE6E}"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910150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D6B3F0-7057-40AB-A0D1-9A67E201FE6E}"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924877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1D6B3F0-7057-40AB-A0D1-9A67E201FE6E}"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1138029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1D6B3F0-7057-40AB-A0D1-9A67E201FE6E}" type="datetimeFigureOut">
              <a:rPr lang="en-IN" smtClean="0"/>
              <a:t>15-02-2023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1942983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1D6B3F0-7057-40AB-A0D1-9A67E201FE6E}" type="datetimeFigureOut">
              <a:rPr lang="en-IN" smtClean="0"/>
              <a:t>15-02-2023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1686580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1D6B3F0-7057-40AB-A0D1-9A67E201FE6E}" type="datetimeFigureOut">
              <a:rPr lang="en-IN" smtClean="0"/>
              <a:t>15-02-2023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2536128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D6B3F0-7057-40AB-A0D1-9A67E201FE6E}" type="datetimeFigureOut">
              <a:rPr lang="en-IN" smtClean="0"/>
              <a:t>15-02-2023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262995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1D6B3F0-7057-40AB-A0D1-9A67E201FE6E}" type="datetimeFigureOut">
              <a:rPr lang="en-IN" smtClean="0"/>
              <a:t>15-02-2023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1637485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1D6B3F0-7057-40AB-A0D1-9A67E201FE6E}" type="datetimeFigureOut">
              <a:rPr lang="en-IN" smtClean="0"/>
              <a:t>15-02-2023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311088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D6B3F0-7057-40AB-A0D1-9A67E201FE6E}"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162546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1D6B3F0-7057-40AB-A0D1-9A67E201FE6E}"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3F2532-64D5-44DA-BB0F-CB2EA4929CD1}" type="slidenum">
              <a:rPr lang="en-IN" smtClean="0"/>
              <a:t>‹#›</a:t>
            </a:fld>
            <a:endParaRPr lang="en-IN"/>
          </a:p>
        </p:txBody>
      </p:sp>
    </p:spTree>
    <p:extLst>
      <p:ext uri="{BB962C8B-B14F-4D97-AF65-F5344CB8AC3E}">
        <p14:creationId xmlns:p14="http://schemas.microsoft.com/office/powerpoint/2010/main" val="270409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D6B3F0-7057-40AB-A0D1-9A67E201FE6E}" type="datetimeFigureOut">
              <a:rPr lang="en-IN" smtClean="0"/>
              <a:t>15-02-2023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3F2532-64D5-44DA-BB0F-CB2EA4929CD1}" type="slidenum">
              <a:rPr lang="en-IN" smtClean="0"/>
              <a:t>‹#›</a:t>
            </a:fld>
            <a:endParaRPr lang="en-IN"/>
          </a:p>
        </p:txBody>
      </p:sp>
    </p:spTree>
    <p:extLst>
      <p:ext uri="{BB962C8B-B14F-4D97-AF65-F5344CB8AC3E}">
        <p14:creationId xmlns:p14="http://schemas.microsoft.com/office/powerpoint/2010/main" val="1914772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b="1" dirty="0" smtClean="0">
                <a:latin typeface="Verdana" panose="020B0604030504040204" pitchFamily="34" charset="0"/>
                <a:ea typeface="Verdana" panose="020B0604030504040204" pitchFamily="34" charset="0"/>
              </a:rPr>
              <a:t>Normalization</a:t>
            </a:r>
            <a:endParaRPr lang="en-IN" sz="4000" b="1" dirty="0">
              <a:latin typeface="Verdana" panose="020B0604030504040204" pitchFamily="34" charset="0"/>
              <a:ea typeface="Verdana" panose="020B0604030504040204" pitchFamily="34" charset="0"/>
            </a:endParaRPr>
          </a:p>
        </p:txBody>
      </p:sp>
      <p:sp>
        <p:nvSpPr>
          <p:cNvPr id="3" name="Subtitle 2"/>
          <p:cNvSpPr>
            <a:spLocks noGrp="1"/>
          </p:cNvSpPr>
          <p:nvPr>
            <p:ph type="subTitle" idx="1"/>
          </p:nvPr>
        </p:nvSpPr>
        <p:spPr/>
        <p:txBody>
          <a:bodyPr/>
          <a:lstStyle/>
          <a:p>
            <a:pPr lvl="5"/>
            <a:r>
              <a:rPr lang="en-IN" sz="2400" b="1" dirty="0" smtClean="0">
                <a:latin typeface="Verdana" panose="020B0604030504040204" pitchFamily="34" charset="0"/>
                <a:ea typeface="Verdana" panose="020B0604030504040204" pitchFamily="34" charset="0"/>
              </a:rPr>
              <a:t>		Chapter 4</a:t>
            </a:r>
            <a:endParaRPr lang="en-IN" sz="24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63764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4"/>
            <a:ext cx="10515600" cy="561703"/>
          </a:xfrm>
        </p:spPr>
        <p:txBody>
          <a:bodyPr>
            <a:noAutofit/>
          </a:bodyPr>
          <a:lstStyle/>
          <a:p>
            <a:r>
              <a:rPr lang="en-IN" sz="3600" b="1" dirty="0" smtClean="0">
                <a:latin typeface="Verdana" panose="020B0604030504040204" pitchFamily="34" charset="0"/>
                <a:ea typeface="Verdana" panose="020B0604030504040204" pitchFamily="34" charset="0"/>
              </a:rPr>
              <a:t>Normalization</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927462"/>
            <a:ext cx="10515600" cy="5812971"/>
          </a:xfrm>
        </p:spPr>
        <p:txBody>
          <a:bodyPr/>
          <a:lstStyle/>
          <a:p>
            <a:pPr algn="just"/>
            <a:r>
              <a:rPr lang="en-IN" dirty="0" smtClean="0">
                <a:latin typeface="Verdana" panose="020B0604030504040204" pitchFamily="34" charset="0"/>
                <a:ea typeface="Verdana" panose="020B0604030504040204" pitchFamily="34" charset="0"/>
              </a:rPr>
              <a:t>Normalization is a process of simplifying the relationship among data elements in a record. Through normalization, a collection of data in a record structure is replaced by simpler records that are more predictable and therefore manageable.</a:t>
            </a:r>
          </a:p>
          <a:p>
            <a:pPr algn="just"/>
            <a:endParaRPr lang="en-IN" dirty="0" smtClean="0">
              <a:latin typeface="Verdana" panose="020B0604030504040204" pitchFamily="34" charset="0"/>
              <a:ea typeface="Verdana" panose="020B0604030504040204" pitchFamily="34" charset="0"/>
            </a:endParaRPr>
          </a:p>
          <a:p>
            <a:pPr algn="just"/>
            <a:r>
              <a:rPr lang="en-IN" dirty="0" smtClean="0">
                <a:latin typeface="Verdana" panose="020B0604030504040204" pitchFamily="34" charset="0"/>
                <a:ea typeface="Verdana" panose="020B0604030504040204" pitchFamily="34" charset="0"/>
              </a:rPr>
              <a:t>The first step towards normalization is to convert E-R model into table or relations. The next step is to examine the tables for redundancy and if necessary, change them to non-redundant forms. This non-redundant model is then converted into a database, which achieves the objective of design phase.</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6812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944"/>
            <a:ext cx="10515600" cy="574766"/>
          </a:xfrm>
        </p:spPr>
        <p:txBody>
          <a:bodyPr>
            <a:normAutofit/>
          </a:bodyPr>
          <a:lstStyle/>
          <a:p>
            <a:r>
              <a:rPr lang="en-IN" sz="3200" dirty="0" smtClean="0">
                <a:latin typeface="Verdana" panose="020B0604030504040204" pitchFamily="34" charset="0"/>
                <a:ea typeface="Verdana" panose="020B0604030504040204" pitchFamily="34" charset="0"/>
              </a:rPr>
              <a:t>What is the need for normalization?</a:t>
            </a:r>
            <a:endParaRPr lang="en-IN" sz="3200"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927463"/>
            <a:ext cx="10515600" cy="5799908"/>
          </a:xfrm>
        </p:spPr>
        <p:txBody>
          <a:bodyPr/>
          <a:lstStyle/>
          <a:p>
            <a:pPr algn="just"/>
            <a:r>
              <a:rPr lang="en-IN" dirty="0" smtClean="0"/>
              <a:t>Redundancy is un-necessary repetition of data. It can cause problems with storage and retrieval of data. Normalization reduces redundancy.</a:t>
            </a:r>
          </a:p>
          <a:p>
            <a:pPr algn="just"/>
            <a:r>
              <a:rPr lang="en-IN" dirty="0" smtClean="0"/>
              <a:t>Redundancy can lead to:</a:t>
            </a:r>
          </a:p>
          <a:p>
            <a:pPr marL="914400" lvl="1" indent="-457200" algn="just">
              <a:buFont typeface="+mj-lt"/>
              <a:buAutoNum type="alphaLcParenR"/>
            </a:pPr>
            <a:r>
              <a:rPr lang="en-IN" dirty="0" smtClean="0"/>
              <a:t>Inconsistencies – Errors more likely to occur when facts are repeated.</a:t>
            </a:r>
          </a:p>
          <a:p>
            <a:pPr marL="914400" lvl="1" indent="-457200" algn="just">
              <a:buFont typeface="+mj-lt"/>
              <a:buAutoNum type="alphaLcParenR"/>
            </a:pPr>
            <a:r>
              <a:rPr lang="en-IN" dirty="0" smtClean="0"/>
              <a:t>Update anomalies – Inserting, modifying and deleting data may cause inconsistencies. Its like updating and deleting data in one relation, while forgetting to make corresponding changes in other relations.</a:t>
            </a:r>
          </a:p>
          <a:p>
            <a:pPr algn="just"/>
            <a:r>
              <a:rPr lang="en-IN" dirty="0" smtClean="0"/>
              <a:t>During process of normalization, you can identify the dependencies, which can cause problems when deleting or updating. Normalization also helps in simplifying the structure of tables. Fully normalized record consist of:</a:t>
            </a:r>
          </a:p>
          <a:p>
            <a:pPr marL="914400" lvl="1" indent="-457200" algn="just">
              <a:buFont typeface="+mj-lt"/>
              <a:buAutoNum type="alphaLcPeriod"/>
            </a:pPr>
            <a:r>
              <a:rPr lang="en-IN" dirty="0" smtClean="0"/>
              <a:t>Primary key that identifies the entity</a:t>
            </a:r>
          </a:p>
          <a:p>
            <a:pPr marL="914400" lvl="1" indent="-457200" algn="just">
              <a:buFont typeface="+mj-lt"/>
              <a:buAutoNum type="alphaLcPeriod"/>
            </a:pPr>
            <a:r>
              <a:rPr lang="en-IN" dirty="0" smtClean="0"/>
              <a:t>A set of attribute that describe the entity.</a:t>
            </a:r>
            <a:endParaRPr lang="en-IN" dirty="0"/>
          </a:p>
        </p:txBody>
      </p:sp>
    </p:spTree>
    <p:extLst>
      <p:ext uri="{BB962C8B-B14F-4D97-AF65-F5344CB8AC3E}">
        <p14:creationId xmlns:p14="http://schemas.microsoft.com/office/powerpoint/2010/main" val="1795969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613953"/>
          </a:xfrm>
        </p:spPr>
        <p:txBody>
          <a:bodyPr>
            <a:normAutofit/>
          </a:bodyPr>
          <a:lstStyle/>
          <a:p>
            <a:r>
              <a:rPr lang="en-IN" sz="3200" dirty="0">
                <a:latin typeface="Verdana" panose="020B0604030504040204" pitchFamily="34" charset="0"/>
                <a:ea typeface="Verdana" panose="020B0604030504040204" pitchFamily="34" charset="0"/>
              </a:rPr>
              <a:t>What is the need for normalization</a:t>
            </a:r>
            <a:r>
              <a:rPr lang="en-IN" sz="3200" dirty="0" smtClean="0">
                <a:latin typeface="Verdana" panose="020B0604030504040204" pitchFamily="34" charset="0"/>
                <a:ea typeface="Verdana" panose="020B0604030504040204" pitchFamily="34" charset="0"/>
              </a:rPr>
              <a:t>? Contd.</a:t>
            </a:r>
            <a:endParaRPr lang="en-IN" sz="3200" dirty="0"/>
          </a:p>
        </p:txBody>
      </p:sp>
      <p:sp>
        <p:nvSpPr>
          <p:cNvPr id="3" name="Content Placeholder 2"/>
          <p:cNvSpPr>
            <a:spLocks noGrp="1"/>
          </p:cNvSpPr>
          <p:nvPr>
            <p:ph idx="1"/>
          </p:nvPr>
        </p:nvSpPr>
        <p:spPr>
          <a:xfrm>
            <a:off x="838200" y="914400"/>
            <a:ext cx="10515600" cy="5786846"/>
          </a:xfrm>
        </p:spPr>
        <p:txBody>
          <a:bodyPr/>
          <a:lstStyle/>
          <a:p>
            <a:pPr algn="just"/>
            <a:r>
              <a:rPr lang="en-IN" dirty="0" smtClean="0"/>
              <a:t>In process of normalization, data are grouped in a simplest possible way so that changes can be made latter with minimum impact on the data structure. When too many attributes are grouped together to form entities, some attributes are found to be entities themselves. Normalization of these entities into attributes improves the effectiveness of DBMS.</a:t>
            </a:r>
            <a:endParaRPr lang="en-IN" dirty="0"/>
          </a:p>
        </p:txBody>
      </p:sp>
    </p:spTree>
    <p:extLst>
      <p:ext uri="{BB962C8B-B14F-4D97-AF65-F5344CB8AC3E}">
        <p14:creationId xmlns:p14="http://schemas.microsoft.com/office/powerpoint/2010/main" val="2949509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4"/>
            <a:ext cx="10515600" cy="509452"/>
          </a:xfrm>
        </p:spPr>
        <p:txBody>
          <a:bodyPr>
            <a:noAutofit/>
          </a:bodyPr>
          <a:lstStyle/>
          <a:p>
            <a:r>
              <a:rPr lang="en-IN" sz="3600" b="1" dirty="0" smtClean="0">
                <a:latin typeface="Verdana" panose="020B0604030504040204" pitchFamily="34" charset="0"/>
                <a:ea typeface="Verdana" panose="020B0604030504040204" pitchFamily="34" charset="0"/>
              </a:rPr>
              <a:t>1</a:t>
            </a:r>
            <a:r>
              <a:rPr lang="en-IN" sz="3600" b="1" baseline="30000" dirty="0" smtClean="0">
                <a:latin typeface="Verdana" panose="020B0604030504040204" pitchFamily="34" charset="0"/>
                <a:ea typeface="Verdana" panose="020B0604030504040204" pitchFamily="34" charset="0"/>
              </a:rPr>
              <a:t>st</a:t>
            </a:r>
            <a:r>
              <a:rPr lang="en-IN" sz="3600" b="1" dirty="0" smtClean="0">
                <a:latin typeface="Verdana" panose="020B0604030504040204" pitchFamily="34" charset="0"/>
                <a:ea typeface="Verdana" panose="020B0604030504040204" pitchFamily="34" charset="0"/>
              </a:rPr>
              <a:t> Normal Form(1NF)</a:t>
            </a:r>
            <a:endParaRPr lang="en-IN" sz="36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783771"/>
            <a:ext cx="10515600" cy="5917474"/>
          </a:xfrm>
        </p:spPr>
        <p:txBody>
          <a:bodyPr/>
          <a:lstStyle/>
          <a:p>
            <a:pPr algn="just"/>
            <a:r>
              <a:rPr lang="en-IN" dirty="0" smtClean="0"/>
              <a:t>A table is in 1</a:t>
            </a:r>
            <a:r>
              <a:rPr lang="en-IN" baseline="30000" dirty="0" smtClean="0"/>
              <a:t>st</a:t>
            </a:r>
            <a:r>
              <a:rPr lang="en-IN" dirty="0" smtClean="0"/>
              <a:t> normal form when it consists no repeating groups. The repeating columns of fields in an un-normalized table are removed from the table and put into separate tables. These tables are dependent on the parent table from which it is derived. The key to these tables must also be a part of the parent table, so that the parent table and the derived tables can be related to each other.</a:t>
            </a:r>
          </a:p>
          <a:p>
            <a:pPr algn="just"/>
            <a:r>
              <a:rPr lang="en-IN" dirty="0" smtClean="0"/>
              <a:t>Isolate repeating from an entity because they are easier to process separately, from the rest of the entity.</a:t>
            </a:r>
          </a:p>
          <a:p>
            <a:pPr algn="just"/>
            <a:r>
              <a:rPr lang="en-IN" dirty="0"/>
              <a:t>B</a:t>
            </a:r>
            <a:r>
              <a:rPr lang="en-IN" dirty="0" smtClean="0"/>
              <a:t>elow given table is un-normalized. </a:t>
            </a:r>
            <a:r>
              <a:rPr lang="en-IN" dirty="0"/>
              <a:t>T</a:t>
            </a:r>
            <a:r>
              <a:rPr lang="en-IN" dirty="0" smtClean="0"/>
              <a:t>he first four attributes (</a:t>
            </a:r>
            <a:r>
              <a:rPr lang="en-IN" dirty="0"/>
              <a:t>E</a:t>
            </a:r>
            <a:r>
              <a:rPr lang="en-IN" dirty="0" smtClean="0"/>
              <a:t>mployee number, Employee name, Branch name and Department) are constant. The remaining three attributes (Item number, Item description, Sales price) contain data that change and are repeated with different sales person. Therefore repeating group should be separated from the entity salesperson.</a:t>
            </a:r>
          </a:p>
        </p:txBody>
      </p:sp>
    </p:spTree>
    <p:extLst>
      <p:ext uri="{BB962C8B-B14F-4D97-AF65-F5344CB8AC3E}">
        <p14:creationId xmlns:p14="http://schemas.microsoft.com/office/powerpoint/2010/main" val="16904895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944"/>
            <a:ext cx="10515600" cy="574766"/>
          </a:xfrm>
        </p:spPr>
        <p:txBody>
          <a:bodyPr>
            <a:normAutofit/>
          </a:bodyPr>
          <a:lstStyle/>
          <a:p>
            <a:r>
              <a:rPr lang="en-IN" sz="3200" b="1" dirty="0">
                <a:latin typeface="Verdana" panose="020B0604030504040204" pitchFamily="34" charset="0"/>
                <a:ea typeface="Verdana" panose="020B0604030504040204" pitchFamily="34" charset="0"/>
              </a:rPr>
              <a:t>1</a:t>
            </a:r>
            <a:r>
              <a:rPr lang="en-IN" sz="3200" b="1" baseline="30000" dirty="0">
                <a:latin typeface="Verdana" panose="020B0604030504040204" pitchFamily="34" charset="0"/>
                <a:ea typeface="Verdana" panose="020B0604030504040204" pitchFamily="34" charset="0"/>
              </a:rPr>
              <a:t>st</a:t>
            </a:r>
            <a:r>
              <a:rPr lang="en-IN" sz="3200" b="1" dirty="0">
                <a:latin typeface="Verdana" panose="020B0604030504040204" pitchFamily="34" charset="0"/>
                <a:ea typeface="Verdana" panose="020B0604030504040204" pitchFamily="34" charset="0"/>
              </a:rPr>
              <a:t> Normal Form(1NF</a:t>
            </a:r>
            <a:r>
              <a:rPr lang="en-IN" sz="3200" b="1" dirty="0" smtClean="0">
                <a:latin typeface="Verdana" panose="020B0604030504040204" pitchFamily="34" charset="0"/>
                <a:ea typeface="Verdana" panose="020B0604030504040204" pitchFamily="34" charset="0"/>
              </a:rPr>
              <a:t>): contd</a:t>
            </a:r>
            <a:r>
              <a:rPr lang="en-IN" sz="3200" b="1" dirty="0">
                <a:latin typeface="Verdana" panose="020B0604030504040204" pitchFamily="34" charset="0"/>
                <a:ea typeface="Verdana" panose="020B0604030504040204" pitchFamily="34" charset="0"/>
              </a:rPr>
              <a:t>.</a:t>
            </a:r>
            <a:endParaRPr lang="en-IN"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024227"/>
              </p:ext>
            </p:extLst>
          </p:nvPr>
        </p:nvGraphicFramePr>
        <p:xfrm>
          <a:off x="838200" y="992190"/>
          <a:ext cx="10515603" cy="4963184"/>
        </p:xfrm>
        <a:graphic>
          <a:graphicData uri="http://schemas.openxmlformats.org/drawingml/2006/table">
            <a:tbl>
              <a:tblPr firstRow="1" bandRow="1">
                <a:tableStyleId>{93296810-A885-4BE3-A3E7-6D5BEEA58F35}</a:tableStyleId>
              </a:tblPr>
              <a:tblGrid>
                <a:gridCol w="1502229">
                  <a:extLst>
                    <a:ext uri="{9D8B030D-6E8A-4147-A177-3AD203B41FA5}">
                      <a16:colId xmlns:a16="http://schemas.microsoft.com/office/drawing/2014/main" val="3086006758"/>
                    </a:ext>
                  </a:extLst>
                </a:gridCol>
                <a:gridCol w="1502229">
                  <a:extLst>
                    <a:ext uri="{9D8B030D-6E8A-4147-A177-3AD203B41FA5}">
                      <a16:colId xmlns:a16="http://schemas.microsoft.com/office/drawing/2014/main" val="1370493800"/>
                    </a:ext>
                  </a:extLst>
                </a:gridCol>
                <a:gridCol w="1502229">
                  <a:extLst>
                    <a:ext uri="{9D8B030D-6E8A-4147-A177-3AD203B41FA5}">
                      <a16:colId xmlns:a16="http://schemas.microsoft.com/office/drawing/2014/main" val="3128728193"/>
                    </a:ext>
                  </a:extLst>
                </a:gridCol>
                <a:gridCol w="1502229">
                  <a:extLst>
                    <a:ext uri="{9D8B030D-6E8A-4147-A177-3AD203B41FA5}">
                      <a16:colId xmlns:a16="http://schemas.microsoft.com/office/drawing/2014/main" val="2273138247"/>
                    </a:ext>
                  </a:extLst>
                </a:gridCol>
                <a:gridCol w="1502229">
                  <a:extLst>
                    <a:ext uri="{9D8B030D-6E8A-4147-A177-3AD203B41FA5}">
                      <a16:colId xmlns:a16="http://schemas.microsoft.com/office/drawing/2014/main" val="3723580098"/>
                    </a:ext>
                  </a:extLst>
                </a:gridCol>
                <a:gridCol w="1502229">
                  <a:extLst>
                    <a:ext uri="{9D8B030D-6E8A-4147-A177-3AD203B41FA5}">
                      <a16:colId xmlns:a16="http://schemas.microsoft.com/office/drawing/2014/main" val="1707473912"/>
                    </a:ext>
                  </a:extLst>
                </a:gridCol>
                <a:gridCol w="1502229">
                  <a:extLst>
                    <a:ext uri="{9D8B030D-6E8A-4147-A177-3AD203B41FA5}">
                      <a16:colId xmlns:a16="http://schemas.microsoft.com/office/drawing/2014/main" val="4065466441"/>
                    </a:ext>
                  </a:extLst>
                </a:gridCol>
              </a:tblGrid>
              <a:tr h="570840">
                <a:tc>
                  <a:txBody>
                    <a:bodyPr/>
                    <a:lstStyle/>
                    <a:p>
                      <a:r>
                        <a:rPr lang="en-IN" dirty="0" smtClean="0"/>
                        <a:t>Employee Number</a:t>
                      </a:r>
                      <a:endParaRPr lang="en-IN" dirty="0"/>
                    </a:p>
                  </a:txBody>
                  <a:tcPr/>
                </a:tc>
                <a:tc>
                  <a:txBody>
                    <a:bodyPr/>
                    <a:lstStyle/>
                    <a:p>
                      <a:r>
                        <a:rPr lang="en-IN" dirty="0" smtClean="0"/>
                        <a:t>Employee Name</a:t>
                      </a:r>
                      <a:endParaRPr lang="en-IN" dirty="0"/>
                    </a:p>
                  </a:txBody>
                  <a:tcPr/>
                </a:tc>
                <a:tc>
                  <a:txBody>
                    <a:bodyPr/>
                    <a:lstStyle/>
                    <a:p>
                      <a:r>
                        <a:rPr lang="en-IN" dirty="0" smtClean="0"/>
                        <a:t>Branch Name</a:t>
                      </a:r>
                      <a:endParaRPr lang="en-IN" dirty="0"/>
                    </a:p>
                  </a:txBody>
                  <a:tcPr/>
                </a:tc>
                <a:tc>
                  <a:txBody>
                    <a:bodyPr/>
                    <a:lstStyle/>
                    <a:p>
                      <a:r>
                        <a:rPr lang="en-IN" dirty="0" smtClean="0"/>
                        <a:t>Department</a:t>
                      </a:r>
                      <a:endParaRPr lang="en-IN" dirty="0"/>
                    </a:p>
                  </a:txBody>
                  <a:tcPr/>
                </a:tc>
                <a:tc>
                  <a:txBody>
                    <a:bodyPr/>
                    <a:lstStyle/>
                    <a:p>
                      <a:r>
                        <a:rPr lang="en-IN" dirty="0" smtClean="0"/>
                        <a:t>Item Number</a:t>
                      </a:r>
                      <a:endParaRPr lang="en-IN" dirty="0"/>
                    </a:p>
                  </a:txBody>
                  <a:tcPr/>
                </a:tc>
                <a:tc>
                  <a:txBody>
                    <a:bodyPr/>
                    <a:lstStyle/>
                    <a:p>
                      <a:r>
                        <a:rPr lang="en-IN" dirty="0" smtClean="0"/>
                        <a:t>Item Description</a:t>
                      </a:r>
                      <a:endParaRPr lang="en-IN" dirty="0"/>
                    </a:p>
                  </a:txBody>
                  <a:tcPr/>
                </a:tc>
                <a:tc>
                  <a:txBody>
                    <a:bodyPr/>
                    <a:lstStyle/>
                    <a:p>
                      <a:r>
                        <a:rPr lang="en-IN" dirty="0" smtClean="0"/>
                        <a:t>Sale Price(</a:t>
                      </a:r>
                      <a:r>
                        <a:rPr lang="en-IN" dirty="0" err="1" smtClean="0"/>
                        <a:t>Rs</a:t>
                      </a:r>
                      <a:r>
                        <a:rPr lang="en-IN" dirty="0" smtClean="0"/>
                        <a:t>)</a:t>
                      </a:r>
                      <a:endParaRPr lang="en-IN" dirty="0"/>
                    </a:p>
                  </a:txBody>
                  <a:tcPr/>
                </a:tc>
                <a:extLst>
                  <a:ext uri="{0D108BD9-81ED-4DB2-BD59-A6C34878D82A}">
                    <a16:rowId xmlns:a16="http://schemas.microsoft.com/office/drawing/2014/main" val="4096163455"/>
                  </a:ext>
                </a:extLst>
              </a:tr>
              <a:tr h="380368">
                <a:tc>
                  <a:txBody>
                    <a:bodyPr/>
                    <a:lstStyle/>
                    <a:p>
                      <a:r>
                        <a:rPr lang="en-IN" dirty="0" smtClean="0"/>
                        <a:t>2001</a:t>
                      </a:r>
                      <a:endParaRPr lang="en-IN" dirty="0"/>
                    </a:p>
                  </a:txBody>
                  <a:tcPr/>
                </a:tc>
                <a:tc>
                  <a:txBody>
                    <a:bodyPr/>
                    <a:lstStyle/>
                    <a:p>
                      <a:r>
                        <a:rPr lang="en-IN" dirty="0" err="1" smtClean="0"/>
                        <a:t>Rajan</a:t>
                      </a:r>
                      <a:endParaRPr lang="en-IN" dirty="0"/>
                    </a:p>
                  </a:txBody>
                  <a:tcPr/>
                </a:tc>
                <a:tc>
                  <a:txBody>
                    <a:bodyPr/>
                    <a:lstStyle/>
                    <a:p>
                      <a:r>
                        <a:rPr lang="en-IN" dirty="0" smtClean="0"/>
                        <a:t>Delhi</a:t>
                      </a:r>
                      <a:endParaRPr lang="en-IN" dirty="0"/>
                    </a:p>
                  </a:txBody>
                  <a:tcPr/>
                </a:tc>
                <a:tc>
                  <a:txBody>
                    <a:bodyPr/>
                    <a:lstStyle/>
                    <a:p>
                      <a:r>
                        <a:rPr lang="en-IN" dirty="0" smtClean="0"/>
                        <a:t>Hardware</a:t>
                      </a:r>
                      <a:endParaRPr lang="en-IN" dirty="0"/>
                    </a:p>
                  </a:txBody>
                  <a:tcPr/>
                </a:tc>
                <a:tc>
                  <a:txBody>
                    <a:bodyPr/>
                    <a:lstStyle/>
                    <a:p>
                      <a:r>
                        <a:rPr lang="en-IN" dirty="0" smtClean="0"/>
                        <a:t>TR10</a:t>
                      </a:r>
                      <a:endParaRPr lang="en-IN" dirty="0"/>
                    </a:p>
                  </a:txBody>
                  <a:tcPr/>
                </a:tc>
                <a:tc>
                  <a:txBody>
                    <a:bodyPr/>
                    <a:lstStyle/>
                    <a:p>
                      <a:r>
                        <a:rPr lang="en-IN" dirty="0" smtClean="0"/>
                        <a:t>Router</a:t>
                      </a:r>
                      <a:endParaRPr lang="en-IN" dirty="0"/>
                    </a:p>
                  </a:txBody>
                  <a:tcPr/>
                </a:tc>
                <a:tc>
                  <a:txBody>
                    <a:bodyPr/>
                    <a:lstStyle/>
                    <a:p>
                      <a:r>
                        <a:rPr lang="en-IN" dirty="0" smtClean="0"/>
                        <a:t>3500</a:t>
                      </a:r>
                      <a:endParaRPr lang="en-IN" dirty="0"/>
                    </a:p>
                  </a:txBody>
                  <a:tcPr/>
                </a:tc>
                <a:extLst>
                  <a:ext uri="{0D108BD9-81ED-4DB2-BD59-A6C34878D82A}">
                    <a16:rowId xmlns:a16="http://schemas.microsoft.com/office/drawing/2014/main" val="3418342458"/>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SA51</a:t>
                      </a:r>
                      <a:endParaRPr lang="en-IN" dirty="0"/>
                    </a:p>
                  </a:txBody>
                  <a:tcPr/>
                </a:tc>
                <a:tc>
                  <a:txBody>
                    <a:bodyPr/>
                    <a:lstStyle/>
                    <a:p>
                      <a:r>
                        <a:rPr lang="en-IN" dirty="0" smtClean="0"/>
                        <a:t>Saw</a:t>
                      </a:r>
                      <a:endParaRPr lang="en-IN" dirty="0"/>
                    </a:p>
                  </a:txBody>
                  <a:tcPr/>
                </a:tc>
                <a:tc>
                  <a:txBody>
                    <a:bodyPr/>
                    <a:lstStyle/>
                    <a:p>
                      <a:r>
                        <a:rPr lang="en-IN" dirty="0" smtClean="0"/>
                        <a:t>1900</a:t>
                      </a:r>
                      <a:endParaRPr lang="en-IN" dirty="0"/>
                    </a:p>
                  </a:txBody>
                  <a:tcPr/>
                </a:tc>
                <a:extLst>
                  <a:ext uri="{0D108BD9-81ED-4DB2-BD59-A6C34878D82A}">
                    <a16:rowId xmlns:a16="http://schemas.microsoft.com/office/drawing/2014/main" val="981481408"/>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PT6</a:t>
                      </a:r>
                      <a:endParaRPr lang="en-IN" dirty="0"/>
                    </a:p>
                  </a:txBody>
                  <a:tcPr/>
                </a:tc>
                <a:tc>
                  <a:txBody>
                    <a:bodyPr/>
                    <a:lstStyle/>
                    <a:p>
                      <a:r>
                        <a:rPr lang="en-IN" dirty="0" smtClean="0"/>
                        <a:t>Drill</a:t>
                      </a:r>
                      <a:endParaRPr lang="en-IN" dirty="0"/>
                    </a:p>
                  </a:txBody>
                  <a:tcPr/>
                </a:tc>
                <a:tc>
                  <a:txBody>
                    <a:bodyPr/>
                    <a:lstStyle/>
                    <a:p>
                      <a:r>
                        <a:rPr lang="en-IN" dirty="0" smtClean="0"/>
                        <a:t>2100</a:t>
                      </a:r>
                      <a:endParaRPr lang="en-IN" dirty="0"/>
                    </a:p>
                  </a:txBody>
                  <a:tcPr/>
                </a:tc>
                <a:extLst>
                  <a:ext uri="{0D108BD9-81ED-4DB2-BD59-A6C34878D82A}">
                    <a16:rowId xmlns:a16="http://schemas.microsoft.com/office/drawing/2014/main" val="3195390788"/>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A16</a:t>
                      </a:r>
                      <a:endParaRPr lang="en-IN" dirty="0"/>
                    </a:p>
                  </a:txBody>
                  <a:tcPr/>
                </a:tc>
                <a:tc>
                  <a:txBody>
                    <a:bodyPr/>
                    <a:lstStyle/>
                    <a:p>
                      <a:r>
                        <a:rPr lang="en-IN" dirty="0" smtClean="0"/>
                        <a:t>Lawn mover</a:t>
                      </a:r>
                      <a:endParaRPr lang="en-IN" dirty="0"/>
                    </a:p>
                  </a:txBody>
                  <a:tcPr/>
                </a:tc>
                <a:tc>
                  <a:txBody>
                    <a:bodyPr/>
                    <a:lstStyle/>
                    <a:p>
                      <a:r>
                        <a:rPr lang="en-IN" dirty="0" smtClean="0"/>
                        <a:t>2450</a:t>
                      </a:r>
                      <a:endParaRPr lang="en-IN" dirty="0"/>
                    </a:p>
                  </a:txBody>
                  <a:tcPr/>
                </a:tc>
                <a:extLst>
                  <a:ext uri="{0D108BD9-81ED-4DB2-BD59-A6C34878D82A}">
                    <a16:rowId xmlns:a16="http://schemas.microsoft.com/office/drawing/2014/main" val="3746240977"/>
                  </a:ext>
                </a:extLst>
              </a:tr>
              <a:tr h="570840">
                <a:tc>
                  <a:txBody>
                    <a:bodyPr/>
                    <a:lstStyle/>
                    <a:p>
                      <a:r>
                        <a:rPr lang="en-IN" dirty="0" smtClean="0"/>
                        <a:t>3001</a:t>
                      </a:r>
                      <a:endParaRPr lang="en-IN" dirty="0"/>
                    </a:p>
                  </a:txBody>
                  <a:tcPr/>
                </a:tc>
                <a:tc>
                  <a:txBody>
                    <a:bodyPr/>
                    <a:lstStyle/>
                    <a:p>
                      <a:r>
                        <a:rPr lang="en-IN" dirty="0" err="1" smtClean="0"/>
                        <a:t>Sudhir</a:t>
                      </a:r>
                      <a:endParaRPr lang="en-IN" dirty="0"/>
                    </a:p>
                  </a:txBody>
                  <a:tcPr/>
                </a:tc>
                <a:tc>
                  <a:txBody>
                    <a:bodyPr/>
                    <a:lstStyle/>
                    <a:p>
                      <a:r>
                        <a:rPr lang="en-IN" dirty="0" smtClean="0"/>
                        <a:t>Noida</a:t>
                      </a:r>
                      <a:endParaRPr lang="en-IN" dirty="0"/>
                    </a:p>
                  </a:txBody>
                  <a:tcPr/>
                </a:tc>
                <a:tc>
                  <a:txBody>
                    <a:bodyPr/>
                    <a:lstStyle/>
                    <a:p>
                      <a:r>
                        <a:rPr lang="en-IN" dirty="0" smtClean="0"/>
                        <a:t>Home Appliance</a:t>
                      </a:r>
                      <a:endParaRPr lang="en-IN" dirty="0"/>
                    </a:p>
                  </a:txBody>
                  <a:tcPr/>
                </a:tc>
                <a:tc>
                  <a:txBody>
                    <a:bodyPr/>
                    <a:lstStyle/>
                    <a:p>
                      <a:r>
                        <a:rPr lang="en-IN" dirty="0" smtClean="0"/>
                        <a:t>TT01</a:t>
                      </a:r>
                      <a:endParaRPr lang="en-IN" dirty="0"/>
                    </a:p>
                  </a:txBody>
                  <a:tcPr/>
                </a:tc>
                <a:tc>
                  <a:txBody>
                    <a:bodyPr/>
                    <a:lstStyle/>
                    <a:p>
                      <a:r>
                        <a:rPr lang="en-IN" dirty="0" smtClean="0"/>
                        <a:t>Humidifier</a:t>
                      </a:r>
                      <a:endParaRPr lang="en-IN" dirty="0"/>
                    </a:p>
                  </a:txBody>
                  <a:tcPr/>
                </a:tc>
                <a:tc>
                  <a:txBody>
                    <a:bodyPr/>
                    <a:lstStyle/>
                    <a:p>
                      <a:r>
                        <a:rPr lang="en-IN" dirty="0" smtClean="0"/>
                        <a:t>1140</a:t>
                      </a:r>
                      <a:endParaRPr lang="en-IN" dirty="0"/>
                    </a:p>
                  </a:txBody>
                  <a:tcPr/>
                </a:tc>
                <a:extLst>
                  <a:ext uri="{0D108BD9-81ED-4DB2-BD59-A6C34878D82A}">
                    <a16:rowId xmlns:a16="http://schemas.microsoft.com/office/drawing/2014/main" val="3951471941"/>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DO10</a:t>
                      </a:r>
                      <a:endParaRPr lang="en-IN" dirty="0"/>
                    </a:p>
                  </a:txBody>
                  <a:tcPr/>
                </a:tc>
                <a:tc>
                  <a:txBody>
                    <a:bodyPr/>
                    <a:lstStyle/>
                    <a:p>
                      <a:r>
                        <a:rPr lang="en-IN" dirty="0" smtClean="0"/>
                        <a:t>Dishwasher</a:t>
                      </a:r>
                      <a:endParaRPr lang="en-IN" dirty="0"/>
                    </a:p>
                  </a:txBody>
                  <a:tcPr/>
                </a:tc>
                <a:tc>
                  <a:txBody>
                    <a:bodyPr/>
                    <a:lstStyle/>
                    <a:p>
                      <a:r>
                        <a:rPr lang="en-IN" dirty="0" smtClean="0"/>
                        <a:t>26200</a:t>
                      </a:r>
                      <a:endParaRPr lang="en-IN" dirty="0"/>
                    </a:p>
                  </a:txBody>
                  <a:tcPr/>
                </a:tc>
                <a:extLst>
                  <a:ext uri="{0D108BD9-81ED-4DB2-BD59-A6C34878D82A}">
                    <a16:rowId xmlns:a16="http://schemas.microsoft.com/office/drawing/2014/main" val="633142433"/>
                  </a:ext>
                </a:extLst>
              </a:tr>
              <a:tr h="380368">
                <a:tc>
                  <a:txBody>
                    <a:bodyPr/>
                    <a:lstStyle/>
                    <a:p>
                      <a:r>
                        <a:rPr lang="en-IN" dirty="0" smtClean="0"/>
                        <a:t>4019</a:t>
                      </a:r>
                      <a:endParaRPr lang="en-IN" dirty="0"/>
                    </a:p>
                  </a:txBody>
                  <a:tcPr/>
                </a:tc>
                <a:tc>
                  <a:txBody>
                    <a:bodyPr/>
                    <a:lstStyle/>
                    <a:p>
                      <a:r>
                        <a:rPr lang="en-IN" dirty="0" err="1" smtClean="0"/>
                        <a:t>Balwant</a:t>
                      </a:r>
                      <a:endParaRPr lang="en-IN" dirty="0"/>
                    </a:p>
                  </a:txBody>
                  <a:tcPr/>
                </a:tc>
                <a:tc>
                  <a:txBody>
                    <a:bodyPr/>
                    <a:lstStyle/>
                    <a:p>
                      <a:r>
                        <a:rPr lang="en-IN" dirty="0" smtClean="0"/>
                        <a:t>Gurgaon</a:t>
                      </a:r>
                      <a:endParaRPr lang="en-IN" dirty="0"/>
                    </a:p>
                  </a:txBody>
                  <a:tcPr/>
                </a:tc>
                <a:tc>
                  <a:txBody>
                    <a:bodyPr/>
                    <a:lstStyle/>
                    <a:p>
                      <a:r>
                        <a:rPr lang="en-IN" dirty="0" err="1" smtClean="0"/>
                        <a:t>Autoparts</a:t>
                      </a:r>
                      <a:endParaRPr lang="en-IN" dirty="0"/>
                    </a:p>
                  </a:txBody>
                  <a:tcPr/>
                </a:tc>
                <a:tc>
                  <a:txBody>
                    <a:bodyPr/>
                    <a:lstStyle/>
                    <a:p>
                      <a:r>
                        <a:rPr lang="en-IN" dirty="0" smtClean="0"/>
                        <a:t>C16</a:t>
                      </a:r>
                      <a:endParaRPr lang="en-IN" dirty="0"/>
                    </a:p>
                  </a:txBody>
                  <a:tcPr/>
                </a:tc>
                <a:tc>
                  <a:txBody>
                    <a:bodyPr/>
                    <a:lstStyle/>
                    <a:p>
                      <a:r>
                        <a:rPr lang="en-IN" dirty="0" smtClean="0"/>
                        <a:t>Snow Tire</a:t>
                      </a:r>
                      <a:endParaRPr lang="en-IN" dirty="0"/>
                    </a:p>
                  </a:txBody>
                  <a:tcPr/>
                </a:tc>
                <a:tc>
                  <a:txBody>
                    <a:bodyPr/>
                    <a:lstStyle/>
                    <a:p>
                      <a:r>
                        <a:rPr lang="en-IN" dirty="0" smtClean="0"/>
                        <a:t>8500</a:t>
                      </a:r>
                      <a:endParaRPr lang="en-IN" dirty="0"/>
                    </a:p>
                  </a:txBody>
                  <a:tcPr/>
                </a:tc>
                <a:extLst>
                  <a:ext uri="{0D108BD9-81ED-4DB2-BD59-A6C34878D82A}">
                    <a16:rowId xmlns:a16="http://schemas.microsoft.com/office/drawing/2014/main" val="4014841558"/>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AT146</a:t>
                      </a:r>
                      <a:endParaRPr lang="en-IN" dirty="0"/>
                    </a:p>
                  </a:txBody>
                  <a:tcPr/>
                </a:tc>
                <a:tc>
                  <a:txBody>
                    <a:bodyPr/>
                    <a:lstStyle/>
                    <a:p>
                      <a:r>
                        <a:rPr lang="en-IN" dirty="0" smtClean="0"/>
                        <a:t>Alternator</a:t>
                      </a:r>
                      <a:endParaRPr lang="en-IN" dirty="0"/>
                    </a:p>
                  </a:txBody>
                  <a:tcPr/>
                </a:tc>
                <a:tc>
                  <a:txBody>
                    <a:bodyPr/>
                    <a:lstStyle/>
                    <a:p>
                      <a:r>
                        <a:rPr lang="en-IN" dirty="0" smtClean="0"/>
                        <a:t>6500</a:t>
                      </a:r>
                      <a:endParaRPr lang="en-IN" dirty="0"/>
                    </a:p>
                  </a:txBody>
                  <a:tcPr/>
                </a:tc>
                <a:extLst>
                  <a:ext uri="{0D108BD9-81ED-4DB2-BD59-A6C34878D82A}">
                    <a16:rowId xmlns:a16="http://schemas.microsoft.com/office/drawing/2014/main" val="3433857370"/>
                  </a:ext>
                </a:extLst>
              </a:tr>
              <a:tr h="380368">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BH90</a:t>
                      </a:r>
                      <a:endParaRPr lang="en-IN" dirty="0"/>
                    </a:p>
                  </a:txBody>
                  <a:tcPr/>
                </a:tc>
                <a:tc>
                  <a:txBody>
                    <a:bodyPr/>
                    <a:lstStyle/>
                    <a:p>
                      <a:r>
                        <a:rPr lang="en-IN" dirty="0" smtClean="0"/>
                        <a:t>Battery</a:t>
                      </a:r>
                      <a:endParaRPr lang="en-IN" dirty="0"/>
                    </a:p>
                  </a:txBody>
                  <a:tcPr/>
                </a:tc>
                <a:tc>
                  <a:txBody>
                    <a:bodyPr/>
                    <a:lstStyle/>
                    <a:p>
                      <a:r>
                        <a:rPr lang="en-IN" dirty="0" smtClean="0"/>
                        <a:t>4950</a:t>
                      </a:r>
                      <a:endParaRPr lang="en-IN" dirty="0"/>
                    </a:p>
                  </a:txBody>
                  <a:tcPr/>
                </a:tc>
                <a:extLst>
                  <a:ext uri="{0D108BD9-81ED-4DB2-BD59-A6C34878D82A}">
                    <a16:rowId xmlns:a16="http://schemas.microsoft.com/office/drawing/2014/main" val="3648010731"/>
                  </a:ext>
                </a:extLst>
              </a:tr>
              <a:tr h="570840">
                <a:tc>
                  <a:txBody>
                    <a:bodyPr/>
                    <a:lstStyle/>
                    <a:p>
                      <a:r>
                        <a:rPr lang="en-IN" dirty="0" smtClean="0"/>
                        <a:t>6012</a:t>
                      </a:r>
                      <a:endParaRPr lang="en-IN" dirty="0"/>
                    </a:p>
                  </a:txBody>
                  <a:tcPr/>
                </a:tc>
                <a:tc>
                  <a:txBody>
                    <a:bodyPr/>
                    <a:lstStyle/>
                    <a:p>
                      <a:r>
                        <a:rPr lang="en-IN" dirty="0" err="1" smtClean="0"/>
                        <a:t>Anand</a:t>
                      </a:r>
                      <a:endParaRPr lang="en-IN" dirty="0"/>
                    </a:p>
                  </a:txBody>
                  <a:tcPr/>
                </a:tc>
                <a:tc>
                  <a:txBody>
                    <a:bodyPr/>
                    <a:lstStyle/>
                    <a:p>
                      <a:r>
                        <a:rPr lang="en-IN" dirty="0" smtClean="0"/>
                        <a:t>Faridabad</a:t>
                      </a:r>
                      <a:endParaRPr lang="en-IN" dirty="0"/>
                    </a:p>
                  </a:txBody>
                  <a:tcPr/>
                </a:tc>
                <a:tc>
                  <a:txBody>
                    <a:bodyPr/>
                    <a:lstStyle/>
                    <a:p>
                      <a:r>
                        <a:rPr lang="en-IN" dirty="0" smtClean="0"/>
                        <a:t>Men’s Clothing</a:t>
                      </a:r>
                      <a:endParaRPr lang="en-IN" dirty="0"/>
                    </a:p>
                  </a:txBody>
                  <a:tcPr/>
                </a:tc>
                <a:tc>
                  <a:txBody>
                    <a:bodyPr/>
                    <a:lstStyle/>
                    <a:p>
                      <a:r>
                        <a:rPr lang="en-IN" dirty="0" smtClean="0"/>
                        <a:t>S10</a:t>
                      </a:r>
                      <a:endParaRPr lang="en-IN" dirty="0"/>
                    </a:p>
                  </a:txBody>
                  <a:tcPr/>
                </a:tc>
                <a:tc>
                  <a:txBody>
                    <a:bodyPr/>
                    <a:lstStyle/>
                    <a:p>
                      <a:r>
                        <a:rPr lang="en-IN" dirty="0" smtClean="0"/>
                        <a:t>Suit</a:t>
                      </a:r>
                      <a:endParaRPr lang="en-IN" dirty="0"/>
                    </a:p>
                  </a:txBody>
                  <a:tcPr/>
                </a:tc>
                <a:tc>
                  <a:txBody>
                    <a:bodyPr/>
                    <a:lstStyle/>
                    <a:p>
                      <a:r>
                        <a:rPr lang="en-IN" dirty="0" smtClean="0"/>
                        <a:t>2150</a:t>
                      </a:r>
                      <a:endParaRPr lang="en-IN" dirty="0"/>
                    </a:p>
                  </a:txBody>
                  <a:tcPr/>
                </a:tc>
                <a:extLst>
                  <a:ext uri="{0D108BD9-81ED-4DB2-BD59-A6C34878D82A}">
                    <a16:rowId xmlns:a16="http://schemas.microsoft.com/office/drawing/2014/main" val="2983456256"/>
                  </a:ext>
                </a:extLst>
              </a:tr>
            </a:tbl>
          </a:graphicData>
        </a:graphic>
      </p:graphicFrame>
      <p:sp>
        <p:nvSpPr>
          <p:cNvPr id="5" name="TextBox 4"/>
          <p:cNvSpPr txBox="1"/>
          <p:nvPr/>
        </p:nvSpPr>
        <p:spPr>
          <a:xfrm>
            <a:off x="4846321" y="6217920"/>
            <a:ext cx="2259874" cy="365760"/>
          </a:xfrm>
          <a:prstGeom prst="rect">
            <a:avLst/>
          </a:prstGeom>
          <a:noFill/>
        </p:spPr>
        <p:txBody>
          <a:bodyPr wrap="square" rtlCol="0">
            <a:spAutoFit/>
          </a:bodyPr>
          <a:lstStyle/>
          <a:p>
            <a:r>
              <a:rPr lang="en-IN" b="1" u="sng" dirty="0" smtClean="0"/>
              <a:t>Un-normalized Table</a:t>
            </a:r>
            <a:endParaRPr lang="en-IN" b="1" u="sng" dirty="0"/>
          </a:p>
        </p:txBody>
      </p:sp>
    </p:spTree>
    <p:extLst>
      <p:ext uri="{BB962C8B-B14F-4D97-AF65-F5344CB8AC3E}">
        <p14:creationId xmlns:p14="http://schemas.microsoft.com/office/powerpoint/2010/main" val="22033343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6"/>
            <a:ext cx="10515600" cy="522514"/>
          </a:xfrm>
        </p:spPr>
        <p:txBody>
          <a:bodyPr>
            <a:normAutofit/>
          </a:bodyPr>
          <a:lstStyle/>
          <a:p>
            <a:r>
              <a:rPr lang="en-IN" sz="2800" b="1" dirty="0">
                <a:latin typeface="Verdana" panose="020B0604030504040204" pitchFamily="34" charset="0"/>
                <a:ea typeface="Verdana" panose="020B0604030504040204" pitchFamily="34" charset="0"/>
              </a:rPr>
              <a:t>1</a:t>
            </a:r>
            <a:r>
              <a:rPr lang="en-IN" sz="2800" b="1" baseline="30000" dirty="0">
                <a:latin typeface="Verdana" panose="020B0604030504040204" pitchFamily="34" charset="0"/>
                <a:ea typeface="Verdana" panose="020B0604030504040204" pitchFamily="34" charset="0"/>
              </a:rPr>
              <a:t>st</a:t>
            </a:r>
            <a:r>
              <a:rPr lang="en-IN" sz="2800" b="1" dirty="0">
                <a:latin typeface="Verdana" panose="020B0604030504040204" pitchFamily="34" charset="0"/>
                <a:ea typeface="Verdana" panose="020B0604030504040204" pitchFamily="34" charset="0"/>
              </a:rPr>
              <a:t> Normal Form(1NF): contd.</a:t>
            </a:r>
            <a:endParaRPr lang="en-IN" sz="2800" dirty="0"/>
          </a:p>
        </p:txBody>
      </p:sp>
      <p:sp>
        <p:nvSpPr>
          <p:cNvPr id="3" name="Content Placeholder 2"/>
          <p:cNvSpPr>
            <a:spLocks noGrp="1"/>
          </p:cNvSpPr>
          <p:nvPr>
            <p:ph idx="1"/>
          </p:nvPr>
        </p:nvSpPr>
        <p:spPr>
          <a:xfrm>
            <a:off x="838200" y="744582"/>
            <a:ext cx="10515600" cy="5447211"/>
          </a:xfrm>
        </p:spPr>
        <p:txBody>
          <a:bodyPr>
            <a:normAutofit/>
          </a:bodyPr>
          <a:lstStyle/>
          <a:p>
            <a:pPr algn="just"/>
            <a:r>
              <a:rPr lang="en-IN" dirty="0" smtClean="0"/>
              <a:t>The normalized file consists of two files-</a:t>
            </a:r>
          </a:p>
          <a:p>
            <a:pPr algn="just"/>
            <a:endParaRPr lang="en-IN" dirty="0" smtClean="0"/>
          </a:p>
          <a:p>
            <a:pPr marL="914400" lvl="1" indent="-457200" algn="just">
              <a:buFont typeface="+mj-lt"/>
              <a:buAutoNum type="arabicPeriod"/>
            </a:pPr>
            <a:r>
              <a:rPr lang="en-IN" dirty="0" smtClean="0"/>
              <a:t>The Salesperson data file with Employee number as the primary key.</a:t>
            </a:r>
          </a:p>
          <a:p>
            <a:pPr marL="914400" lvl="1" indent="-457200" algn="just">
              <a:buFont typeface="+mj-lt"/>
              <a:buAutoNum type="arabicPeriod"/>
            </a:pPr>
            <a:endParaRPr lang="en-IN" dirty="0" smtClean="0"/>
          </a:p>
          <a:p>
            <a:pPr marL="914400" lvl="1" indent="-457200" algn="just">
              <a:buFont typeface="+mj-lt"/>
              <a:buAutoNum type="arabicPeriod"/>
            </a:pPr>
            <a:r>
              <a:rPr lang="en-IN" dirty="0" smtClean="0"/>
              <a:t>The Salesperson item file with Employee number and Item number as new attributes. These attributes are used together to access data. Two key together called concatenated key.</a:t>
            </a:r>
          </a:p>
          <a:p>
            <a:pPr marL="914400" lvl="1" indent="-457200" algn="just">
              <a:buFont typeface="+mj-lt"/>
              <a:buAutoNum type="arabicPeriod"/>
            </a:pPr>
            <a:endParaRPr lang="en-IN" dirty="0" smtClean="0"/>
          </a:p>
          <a:p>
            <a:pPr marL="457200" lvl="1" indent="0" algn="just">
              <a:buNone/>
            </a:pPr>
            <a:r>
              <a:rPr lang="en-IN" dirty="0"/>
              <a:t>	</a:t>
            </a:r>
            <a:r>
              <a:rPr lang="en-IN" dirty="0" smtClean="0"/>
              <a:t>*=key</a:t>
            </a:r>
          </a:p>
        </p:txBody>
      </p:sp>
    </p:spTree>
    <p:extLst>
      <p:ext uri="{BB962C8B-B14F-4D97-AF65-F5344CB8AC3E}">
        <p14:creationId xmlns:p14="http://schemas.microsoft.com/office/powerpoint/2010/main" val="26801634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8"/>
            <a:ext cx="10515600" cy="522514"/>
          </a:xfrm>
        </p:spPr>
        <p:txBody>
          <a:bodyPr>
            <a:noAutofit/>
          </a:bodyPr>
          <a:lstStyle/>
          <a:p>
            <a:r>
              <a:rPr lang="en-IN" sz="2800" b="1" dirty="0">
                <a:latin typeface="Verdana" panose="020B0604030504040204" pitchFamily="34" charset="0"/>
                <a:ea typeface="Verdana" panose="020B0604030504040204" pitchFamily="34" charset="0"/>
              </a:rPr>
              <a:t>1</a:t>
            </a:r>
            <a:r>
              <a:rPr lang="en-IN" sz="2800" b="1" baseline="30000" dirty="0">
                <a:latin typeface="Verdana" panose="020B0604030504040204" pitchFamily="34" charset="0"/>
                <a:ea typeface="Verdana" panose="020B0604030504040204" pitchFamily="34" charset="0"/>
              </a:rPr>
              <a:t>st</a:t>
            </a:r>
            <a:r>
              <a:rPr lang="en-IN" sz="2800" b="1" dirty="0">
                <a:latin typeface="Verdana" panose="020B0604030504040204" pitchFamily="34" charset="0"/>
                <a:ea typeface="Verdana" panose="020B0604030504040204" pitchFamily="34" charset="0"/>
              </a:rPr>
              <a:t> Normal Form(1NF): contd.</a:t>
            </a:r>
            <a:endParaRPr lang="en-IN" sz="2800" dirty="0"/>
          </a:p>
        </p:txBody>
      </p:sp>
      <p:graphicFrame>
        <p:nvGraphicFramePr>
          <p:cNvPr id="4" name="Table 3"/>
          <p:cNvGraphicFramePr>
            <a:graphicFrameLocks noGrp="1"/>
          </p:cNvGraphicFramePr>
          <p:nvPr>
            <p:extLst>
              <p:ext uri="{D42A27DB-BD31-4B8C-83A1-F6EECF244321}">
                <p14:modId xmlns:p14="http://schemas.microsoft.com/office/powerpoint/2010/main" val="2844761869"/>
              </p:ext>
            </p:extLst>
          </p:nvPr>
        </p:nvGraphicFramePr>
        <p:xfrm>
          <a:off x="1034867" y="1084218"/>
          <a:ext cx="5061133" cy="4327604"/>
        </p:xfrm>
        <a:graphic>
          <a:graphicData uri="http://schemas.openxmlformats.org/drawingml/2006/table">
            <a:tbl>
              <a:tblPr firstRow="1" bandRow="1">
                <a:tableStyleId>{5C22544A-7EE6-4342-B048-85BDC9FD1C3A}</a:tableStyleId>
              </a:tblPr>
              <a:tblGrid>
                <a:gridCol w="1377407">
                  <a:extLst>
                    <a:ext uri="{9D8B030D-6E8A-4147-A177-3AD203B41FA5}">
                      <a16:colId xmlns:a16="http://schemas.microsoft.com/office/drawing/2014/main" val="838991112"/>
                    </a:ext>
                  </a:extLst>
                </a:gridCol>
                <a:gridCol w="1136469">
                  <a:extLst>
                    <a:ext uri="{9D8B030D-6E8A-4147-A177-3AD203B41FA5}">
                      <a16:colId xmlns:a16="http://schemas.microsoft.com/office/drawing/2014/main" val="521209123"/>
                    </a:ext>
                  </a:extLst>
                </a:gridCol>
                <a:gridCol w="1136469">
                  <a:extLst>
                    <a:ext uri="{9D8B030D-6E8A-4147-A177-3AD203B41FA5}">
                      <a16:colId xmlns:a16="http://schemas.microsoft.com/office/drawing/2014/main" val="1944496154"/>
                    </a:ext>
                  </a:extLst>
                </a:gridCol>
                <a:gridCol w="1410788">
                  <a:extLst>
                    <a:ext uri="{9D8B030D-6E8A-4147-A177-3AD203B41FA5}">
                      <a16:colId xmlns:a16="http://schemas.microsoft.com/office/drawing/2014/main" val="1844354755"/>
                    </a:ext>
                  </a:extLst>
                </a:gridCol>
              </a:tblGrid>
              <a:tr h="1275067">
                <a:tc>
                  <a:txBody>
                    <a:bodyPr/>
                    <a:lstStyle/>
                    <a:p>
                      <a:r>
                        <a:rPr lang="en-IN" dirty="0" smtClean="0"/>
                        <a:t>* </a:t>
                      </a:r>
                    </a:p>
                    <a:p>
                      <a:r>
                        <a:rPr lang="en-IN" dirty="0" smtClean="0"/>
                        <a:t>Employee       Number</a:t>
                      </a:r>
                      <a:endParaRPr lang="en-IN" dirty="0"/>
                    </a:p>
                  </a:txBody>
                  <a:tcPr/>
                </a:tc>
                <a:tc>
                  <a:txBody>
                    <a:bodyPr/>
                    <a:lstStyle/>
                    <a:p>
                      <a:r>
                        <a:rPr lang="en-IN" dirty="0" smtClean="0"/>
                        <a:t>Employee Name</a:t>
                      </a:r>
                      <a:endParaRPr lang="en-IN" dirty="0"/>
                    </a:p>
                  </a:txBody>
                  <a:tcPr/>
                </a:tc>
                <a:tc>
                  <a:txBody>
                    <a:bodyPr/>
                    <a:lstStyle/>
                    <a:p>
                      <a:r>
                        <a:rPr lang="en-IN" dirty="0" smtClean="0"/>
                        <a:t>Branch Name</a:t>
                      </a:r>
                      <a:endParaRPr lang="en-IN" dirty="0"/>
                    </a:p>
                  </a:txBody>
                  <a:tcPr/>
                </a:tc>
                <a:tc>
                  <a:txBody>
                    <a:bodyPr/>
                    <a:lstStyle/>
                    <a:p>
                      <a:r>
                        <a:rPr lang="en-IN" dirty="0" smtClean="0"/>
                        <a:t>Department</a:t>
                      </a:r>
                      <a:endParaRPr lang="en-IN" dirty="0"/>
                    </a:p>
                  </a:txBody>
                  <a:tcPr/>
                </a:tc>
                <a:extLst>
                  <a:ext uri="{0D108BD9-81ED-4DB2-BD59-A6C34878D82A}">
                    <a16:rowId xmlns:a16="http://schemas.microsoft.com/office/drawing/2014/main" val="3517507065"/>
                  </a:ext>
                </a:extLst>
              </a:tr>
              <a:tr h="619318">
                <a:tc>
                  <a:txBody>
                    <a:bodyPr/>
                    <a:lstStyle/>
                    <a:p>
                      <a:r>
                        <a:rPr lang="en-IN" dirty="0" smtClean="0"/>
                        <a:t>2001</a:t>
                      </a:r>
                      <a:endParaRPr lang="en-IN" dirty="0"/>
                    </a:p>
                  </a:txBody>
                  <a:tcPr/>
                </a:tc>
                <a:tc>
                  <a:txBody>
                    <a:bodyPr/>
                    <a:lstStyle/>
                    <a:p>
                      <a:r>
                        <a:rPr lang="en-IN" dirty="0" err="1" smtClean="0"/>
                        <a:t>Rajan</a:t>
                      </a:r>
                      <a:endParaRPr lang="en-IN" dirty="0"/>
                    </a:p>
                  </a:txBody>
                  <a:tcPr/>
                </a:tc>
                <a:tc>
                  <a:txBody>
                    <a:bodyPr/>
                    <a:lstStyle/>
                    <a:p>
                      <a:r>
                        <a:rPr lang="en-IN" dirty="0" smtClean="0"/>
                        <a:t>Delhi</a:t>
                      </a:r>
                      <a:endParaRPr lang="en-IN" dirty="0"/>
                    </a:p>
                  </a:txBody>
                  <a:tcPr/>
                </a:tc>
                <a:tc>
                  <a:txBody>
                    <a:bodyPr/>
                    <a:lstStyle/>
                    <a:p>
                      <a:r>
                        <a:rPr lang="en-IN" dirty="0" smtClean="0"/>
                        <a:t>Hardware</a:t>
                      </a:r>
                      <a:endParaRPr lang="en-IN" dirty="0"/>
                    </a:p>
                  </a:txBody>
                  <a:tcPr/>
                </a:tc>
                <a:extLst>
                  <a:ext uri="{0D108BD9-81ED-4DB2-BD59-A6C34878D82A}">
                    <a16:rowId xmlns:a16="http://schemas.microsoft.com/office/drawing/2014/main" val="1908846767"/>
                  </a:ext>
                </a:extLst>
              </a:tr>
              <a:tr h="892547">
                <a:tc>
                  <a:txBody>
                    <a:bodyPr/>
                    <a:lstStyle/>
                    <a:p>
                      <a:r>
                        <a:rPr lang="en-IN" dirty="0" smtClean="0"/>
                        <a:t>3001</a:t>
                      </a:r>
                      <a:endParaRPr lang="en-IN" dirty="0"/>
                    </a:p>
                  </a:txBody>
                  <a:tcPr/>
                </a:tc>
                <a:tc>
                  <a:txBody>
                    <a:bodyPr/>
                    <a:lstStyle/>
                    <a:p>
                      <a:r>
                        <a:rPr lang="en-IN" dirty="0" err="1" smtClean="0"/>
                        <a:t>Sudhir</a:t>
                      </a:r>
                      <a:endParaRPr lang="en-IN" dirty="0"/>
                    </a:p>
                  </a:txBody>
                  <a:tcPr/>
                </a:tc>
                <a:tc>
                  <a:txBody>
                    <a:bodyPr/>
                    <a:lstStyle/>
                    <a:p>
                      <a:r>
                        <a:rPr lang="en-IN" dirty="0" smtClean="0"/>
                        <a:t>Noida</a:t>
                      </a:r>
                      <a:endParaRPr lang="en-IN" dirty="0"/>
                    </a:p>
                  </a:txBody>
                  <a:tcPr/>
                </a:tc>
                <a:tc>
                  <a:txBody>
                    <a:bodyPr/>
                    <a:lstStyle/>
                    <a:p>
                      <a:r>
                        <a:rPr lang="en-IN" dirty="0" smtClean="0"/>
                        <a:t>Home Appliances</a:t>
                      </a:r>
                      <a:endParaRPr lang="en-IN" dirty="0"/>
                    </a:p>
                  </a:txBody>
                  <a:tcPr/>
                </a:tc>
                <a:extLst>
                  <a:ext uri="{0D108BD9-81ED-4DB2-BD59-A6C34878D82A}">
                    <a16:rowId xmlns:a16="http://schemas.microsoft.com/office/drawing/2014/main" val="851433758"/>
                  </a:ext>
                </a:extLst>
              </a:tr>
              <a:tr h="619318">
                <a:tc>
                  <a:txBody>
                    <a:bodyPr/>
                    <a:lstStyle/>
                    <a:p>
                      <a:r>
                        <a:rPr lang="en-IN" dirty="0" smtClean="0"/>
                        <a:t>4019</a:t>
                      </a:r>
                      <a:endParaRPr lang="en-IN" dirty="0"/>
                    </a:p>
                  </a:txBody>
                  <a:tcPr/>
                </a:tc>
                <a:tc>
                  <a:txBody>
                    <a:bodyPr/>
                    <a:lstStyle/>
                    <a:p>
                      <a:r>
                        <a:rPr lang="en-IN" dirty="0" err="1" smtClean="0"/>
                        <a:t>Balwant</a:t>
                      </a:r>
                      <a:endParaRPr lang="en-IN" dirty="0"/>
                    </a:p>
                  </a:txBody>
                  <a:tcPr/>
                </a:tc>
                <a:tc>
                  <a:txBody>
                    <a:bodyPr/>
                    <a:lstStyle/>
                    <a:p>
                      <a:r>
                        <a:rPr lang="en-IN" dirty="0" smtClean="0"/>
                        <a:t>Gurgaon</a:t>
                      </a:r>
                      <a:endParaRPr lang="en-IN" dirty="0"/>
                    </a:p>
                  </a:txBody>
                  <a:tcPr/>
                </a:tc>
                <a:tc>
                  <a:txBody>
                    <a:bodyPr/>
                    <a:lstStyle/>
                    <a:p>
                      <a:r>
                        <a:rPr lang="en-IN" dirty="0" smtClean="0"/>
                        <a:t>Auto parts</a:t>
                      </a:r>
                      <a:endParaRPr lang="en-IN" dirty="0"/>
                    </a:p>
                  </a:txBody>
                  <a:tcPr/>
                </a:tc>
                <a:extLst>
                  <a:ext uri="{0D108BD9-81ED-4DB2-BD59-A6C34878D82A}">
                    <a16:rowId xmlns:a16="http://schemas.microsoft.com/office/drawing/2014/main" val="1778037345"/>
                  </a:ext>
                </a:extLst>
              </a:tr>
              <a:tr h="921354">
                <a:tc>
                  <a:txBody>
                    <a:bodyPr/>
                    <a:lstStyle/>
                    <a:p>
                      <a:r>
                        <a:rPr lang="en-IN" dirty="0" smtClean="0"/>
                        <a:t>6012</a:t>
                      </a:r>
                      <a:endParaRPr lang="en-IN" dirty="0"/>
                    </a:p>
                  </a:txBody>
                  <a:tcPr/>
                </a:tc>
                <a:tc>
                  <a:txBody>
                    <a:bodyPr/>
                    <a:lstStyle/>
                    <a:p>
                      <a:r>
                        <a:rPr lang="en-IN" dirty="0" err="1" smtClean="0"/>
                        <a:t>Anand</a:t>
                      </a:r>
                      <a:endParaRPr lang="en-IN" dirty="0"/>
                    </a:p>
                  </a:txBody>
                  <a:tcPr/>
                </a:tc>
                <a:tc>
                  <a:txBody>
                    <a:bodyPr/>
                    <a:lstStyle/>
                    <a:p>
                      <a:r>
                        <a:rPr lang="en-IN" dirty="0" smtClean="0"/>
                        <a:t>Faridabad</a:t>
                      </a:r>
                      <a:endParaRPr lang="en-IN" dirty="0"/>
                    </a:p>
                  </a:txBody>
                  <a:tcPr/>
                </a:tc>
                <a:tc>
                  <a:txBody>
                    <a:bodyPr/>
                    <a:lstStyle/>
                    <a:p>
                      <a:r>
                        <a:rPr lang="en-IN" dirty="0" smtClean="0"/>
                        <a:t>Men’s Clothing</a:t>
                      </a:r>
                      <a:endParaRPr lang="en-IN" dirty="0"/>
                    </a:p>
                  </a:txBody>
                  <a:tcPr/>
                </a:tc>
                <a:extLst>
                  <a:ext uri="{0D108BD9-81ED-4DB2-BD59-A6C34878D82A}">
                    <a16:rowId xmlns:a16="http://schemas.microsoft.com/office/drawing/2014/main" val="268913241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218469064"/>
              </p:ext>
            </p:extLst>
          </p:nvPr>
        </p:nvGraphicFramePr>
        <p:xfrm>
          <a:off x="6766560" y="885719"/>
          <a:ext cx="4859383" cy="4942098"/>
        </p:xfrm>
        <a:graphic>
          <a:graphicData uri="http://schemas.openxmlformats.org/drawingml/2006/table">
            <a:tbl>
              <a:tblPr firstRow="1" bandRow="1">
                <a:tableStyleId>{5C22544A-7EE6-4342-B048-85BDC9FD1C3A}</a:tableStyleId>
              </a:tblPr>
              <a:tblGrid>
                <a:gridCol w="1130766">
                  <a:extLst>
                    <a:ext uri="{9D8B030D-6E8A-4147-A177-3AD203B41FA5}">
                      <a16:colId xmlns:a16="http://schemas.microsoft.com/office/drawing/2014/main" val="3687342307"/>
                    </a:ext>
                  </a:extLst>
                </a:gridCol>
                <a:gridCol w="999772">
                  <a:extLst>
                    <a:ext uri="{9D8B030D-6E8A-4147-A177-3AD203B41FA5}">
                      <a16:colId xmlns:a16="http://schemas.microsoft.com/office/drawing/2014/main" val="2063207255"/>
                    </a:ext>
                  </a:extLst>
                </a:gridCol>
                <a:gridCol w="1273126">
                  <a:extLst>
                    <a:ext uri="{9D8B030D-6E8A-4147-A177-3AD203B41FA5}">
                      <a16:colId xmlns:a16="http://schemas.microsoft.com/office/drawing/2014/main" val="837613515"/>
                    </a:ext>
                  </a:extLst>
                </a:gridCol>
                <a:gridCol w="1455719">
                  <a:extLst>
                    <a:ext uri="{9D8B030D-6E8A-4147-A177-3AD203B41FA5}">
                      <a16:colId xmlns:a16="http://schemas.microsoft.com/office/drawing/2014/main" val="2238830171"/>
                    </a:ext>
                  </a:extLst>
                </a:gridCol>
              </a:tblGrid>
              <a:tr h="1025364">
                <a:tc>
                  <a:txBody>
                    <a:bodyPr/>
                    <a:lstStyle/>
                    <a:p>
                      <a:r>
                        <a:rPr lang="en-IN" dirty="0" smtClean="0"/>
                        <a:t>* Employee Number</a:t>
                      </a:r>
                      <a:endParaRPr lang="en-IN" dirty="0"/>
                    </a:p>
                  </a:txBody>
                  <a:tcPr/>
                </a:tc>
                <a:tc>
                  <a:txBody>
                    <a:bodyPr/>
                    <a:lstStyle/>
                    <a:p>
                      <a:r>
                        <a:rPr lang="en-IN" dirty="0" smtClean="0"/>
                        <a:t>*</a:t>
                      </a:r>
                    </a:p>
                    <a:p>
                      <a:r>
                        <a:rPr lang="en-IN" dirty="0" smtClean="0"/>
                        <a:t>Item</a:t>
                      </a:r>
                      <a:r>
                        <a:rPr lang="en-IN" baseline="0" dirty="0" smtClean="0"/>
                        <a:t> Number</a:t>
                      </a:r>
                      <a:endParaRPr lang="en-IN" dirty="0"/>
                    </a:p>
                  </a:txBody>
                  <a:tcPr/>
                </a:tc>
                <a:tc>
                  <a:txBody>
                    <a:bodyPr/>
                    <a:lstStyle/>
                    <a:p>
                      <a:endParaRPr lang="en-IN" dirty="0" smtClean="0"/>
                    </a:p>
                    <a:p>
                      <a:r>
                        <a:rPr lang="en-IN" dirty="0" smtClean="0"/>
                        <a:t>Item</a:t>
                      </a:r>
                      <a:r>
                        <a:rPr lang="en-IN" baseline="0" dirty="0" smtClean="0"/>
                        <a:t> Description</a:t>
                      </a:r>
                      <a:endParaRPr lang="en-IN" dirty="0" smtClean="0"/>
                    </a:p>
                  </a:txBody>
                  <a:tcPr/>
                </a:tc>
                <a:tc>
                  <a:txBody>
                    <a:bodyPr/>
                    <a:lstStyle/>
                    <a:p>
                      <a:endParaRPr lang="en-IN" dirty="0" smtClean="0"/>
                    </a:p>
                    <a:p>
                      <a:r>
                        <a:rPr lang="en-IN" dirty="0" smtClean="0"/>
                        <a:t>Sales Price (</a:t>
                      </a:r>
                      <a:r>
                        <a:rPr lang="en-IN" dirty="0" err="1" smtClean="0"/>
                        <a:t>Rs</a:t>
                      </a:r>
                      <a:r>
                        <a:rPr lang="en-IN" dirty="0" smtClean="0"/>
                        <a:t>)</a:t>
                      </a:r>
                      <a:endParaRPr lang="en-IN" dirty="0"/>
                    </a:p>
                  </a:txBody>
                  <a:tcPr/>
                </a:tc>
                <a:extLst>
                  <a:ext uri="{0D108BD9-81ED-4DB2-BD59-A6C34878D82A}">
                    <a16:rowId xmlns:a16="http://schemas.microsoft.com/office/drawing/2014/main" val="531502099"/>
                  </a:ext>
                </a:extLst>
              </a:tr>
              <a:tr h="415842">
                <a:tc>
                  <a:txBody>
                    <a:bodyPr/>
                    <a:lstStyle/>
                    <a:p>
                      <a:r>
                        <a:rPr lang="en-IN" dirty="0" smtClean="0"/>
                        <a:t>2001</a:t>
                      </a:r>
                      <a:endParaRPr lang="en-IN" dirty="0"/>
                    </a:p>
                  </a:txBody>
                  <a:tcPr/>
                </a:tc>
                <a:tc>
                  <a:txBody>
                    <a:bodyPr/>
                    <a:lstStyle/>
                    <a:p>
                      <a:r>
                        <a:rPr lang="en-IN" dirty="0" smtClean="0"/>
                        <a:t>TR10</a:t>
                      </a:r>
                      <a:endParaRPr lang="en-IN" dirty="0"/>
                    </a:p>
                  </a:txBody>
                  <a:tcPr/>
                </a:tc>
                <a:tc>
                  <a:txBody>
                    <a:bodyPr/>
                    <a:lstStyle/>
                    <a:p>
                      <a:r>
                        <a:rPr lang="en-IN" dirty="0" smtClean="0"/>
                        <a:t>Router </a:t>
                      </a:r>
                      <a:endParaRPr lang="en-IN" dirty="0"/>
                    </a:p>
                  </a:txBody>
                  <a:tcPr/>
                </a:tc>
                <a:tc>
                  <a:txBody>
                    <a:bodyPr/>
                    <a:lstStyle/>
                    <a:p>
                      <a:r>
                        <a:rPr lang="en-IN" dirty="0" smtClean="0"/>
                        <a:t>3500</a:t>
                      </a:r>
                      <a:endParaRPr lang="en-IN" dirty="0"/>
                    </a:p>
                  </a:txBody>
                  <a:tcPr/>
                </a:tc>
                <a:extLst>
                  <a:ext uri="{0D108BD9-81ED-4DB2-BD59-A6C34878D82A}">
                    <a16:rowId xmlns:a16="http://schemas.microsoft.com/office/drawing/2014/main" val="3586495390"/>
                  </a:ext>
                </a:extLst>
              </a:tr>
              <a:tr h="415842">
                <a:tc>
                  <a:txBody>
                    <a:bodyPr/>
                    <a:lstStyle/>
                    <a:p>
                      <a:r>
                        <a:rPr lang="en-IN" dirty="0" smtClean="0"/>
                        <a:t>2001</a:t>
                      </a:r>
                      <a:endParaRPr lang="en-IN" dirty="0"/>
                    </a:p>
                  </a:txBody>
                  <a:tcPr/>
                </a:tc>
                <a:tc>
                  <a:txBody>
                    <a:bodyPr/>
                    <a:lstStyle/>
                    <a:p>
                      <a:r>
                        <a:rPr lang="en-IN" dirty="0" smtClean="0"/>
                        <a:t>SA1</a:t>
                      </a:r>
                      <a:endParaRPr lang="en-IN" dirty="0"/>
                    </a:p>
                  </a:txBody>
                  <a:tcPr/>
                </a:tc>
                <a:tc>
                  <a:txBody>
                    <a:bodyPr/>
                    <a:lstStyle/>
                    <a:p>
                      <a:r>
                        <a:rPr lang="en-IN" dirty="0" smtClean="0"/>
                        <a:t>Saw</a:t>
                      </a:r>
                      <a:endParaRPr lang="en-IN" dirty="0"/>
                    </a:p>
                  </a:txBody>
                  <a:tcPr/>
                </a:tc>
                <a:tc>
                  <a:txBody>
                    <a:bodyPr/>
                    <a:lstStyle/>
                    <a:p>
                      <a:r>
                        <a:rPr lang="en-IN" dirty="0" smtClean="0"/>
                        <a:t>1900</a:t>
                      </a:r>
                      <a:endParaRPr lang="en-IN" dirty="0"/>
                    </a:p>
                  </a:txBody>
                  <a:tcPr/>
                </a:tc>
                <a:extLst>
                  <a:ext uri="{0D108BD9-81ED-4DB2-BD59-A6C34878D82A}">
                    <a16:rowId xmlns:a16="http://schemas.microsoft.com/office/drawing/2014/main" val="865495601"/>
                  </a:ext>
                </a:extLst>
              </a:tr>
              <a:tr h="415842">
                <a:tc>
                  <a:txBody>
                    <a:bodyPr/>
                    <a:lstStyle/>
                    <a:p>
                      <a:r>
                        <a:rPr lang="en-IN" dirty="0" smtClean="0"/>
                        <a:t>2001</a:t>
                      </a:r>
                      <a:endParaRPr lang="en-IN" dirty="0"/>
                    </a:p>
                  </a:txBody>
                  <a:tcPr/>
                </a:tc>
                <a:tc>
                  <a:txBody>
                    <a:bodyPr/>
                    <a:lstStyle/>
                    <a:p>
                      <a:r>
                        <a:rPr lang="en-IN" dirty="0" smtClean="0"/>
                        <a:t>PT6</a:t>
                      </a:r>
                      <a:endParaRPr lang="en-IN" dirty="0"/>
                    </a:p>
                  </a:txBody>
                  <a:tcPr/>
                </a:tc>
                <a:tc>
                  <a:txBody>
                    <a:bodyPr/>
                    <a:lstStyle/>
                    <a:p>
                      <a:r>
                        <a:rPr lang="en-IN" dirty="0" smtClean="0"/>
                        <a:t>Drill</a:t>
                      </a:r>
                      <a:endParaRPr lang="en-IN" dirty="0"/>
                    </a:p>
                  </a:txBody>
                  <a:tcPr/>
                </a:tc>
                <a:tc>
                  <a:txBody>
                    <a:bodyPr/>
                    <a:lstStyle/>
                    <a:p>
                      <a:r>
                        <a:rPr lang="en-IN" dirty="0" smtClean="0"/>
                        <a:t>2100</a:t>
                      </a:r>
                      <a:endParaRPr lang="en-IN" dirty="0"/>
                    </a:p>
                  </a:txBody>
                  <a:tcPr/>
                </a:tc>
                <a:extLst>
                  <a:ext uri="{0D108BD9-81ED-4DB2-BD59-A6C34878D82A}">
                    <a16:rowId xmlns:a16="http://schemas.microsoft.com/office/drawing/2014/main" val="1821886999"/>
                  </a:ext>
                </a:extLst>
              </a:tr>
              <a:tr h="415842">
                <a:tc>
                  <a:txBody>
                    <a:bodyPr/>
                    <a:lstStyle/>
                    <a:p>
                      <a:r>
                        <a:rPr lang="en-IN" dirty="0" smtClean="0"/>
                        <a:t>2001</a:t>
                      </a:r>
                      <a:endParaRPr lang="en-IN" dirty="0"/>
                    </a:p>
                  </a:txBody>
                  <a:tcPr/>
                </a:tc>
                <a:tc>
                  <a:txBody>
                    <a:bodyPr/>
                    <a:lstStyle/>
                    <a:p>
                      <a:r>
                        <a:rPr lang="en-IN" dirty="0" smtClean="0"/>
                        <a:t>A16</a:t>
                      </a:r>
                      <a:endParaRPr lang="en-IN" dirty="0"/>
                    </a:p>
                  </a:txBody>
                  <a:tcPr/>
                </a:tc>
                <a:tc>
                  <a:txBody>
                    <a:bodyPr/>
                    <a:lstStyle/>
                    <a:p>
                      <a:r>
                        <a:rPr lang="en-IN" dirty="0" smtClean="0"/>
                        <a:t>Lawn Mover</a:t>
                      </a:r>
                      <a:endParaRPr lang="en-IN" dirty="0"/>
                    </a:p>
                  </a:txBody>
                  <a:tcPr/>
                </a:tc>
                <a:tc>
                  <a:txBody>
                    <a:bodyPr/>
                    <a:lstStyle/>
                    <a:p>
                      <a:r>
                        <a:rPr lang="en-IN" dirty="0" smtClean="0"/>
                        <a:t>2450</a:t>
                      </a:r>
                      <a:endParaRPr lang="en-IN" dirty="0"/>
                    </a:p>
                  </a:txBody>
                  <a:tcPr/>
                </a:tc>
                <a:extLst>
                  <a:ext uri="{0D108BD9-81ED-4DB2-BD59-A6C34878D82A}">
                    <a16:rowId xmlns:a16="http://schemas.microsoft.com/office/drawing/2014/main" val="2838306741"/>
                  </a:ext>
                </a:extLst>
              </a:tr>
              <a:tr h="415842">
                <a:tc>
                  <a:txBody>
                    <a:bodyPr/>
                    <a:lstStyle/>
                    <a:p>
                      <a:r>
                        <a:rPr lang="en-IN" dirty="0" smtClean="0"/>
                        <a:t>3001</a:t>
                      </a:r>
                      <a:endParaRPr lang="en-IN" dirty="0"/>
                    </a:p>
                  </a:txBody>
                  <a:tcPr/>
                </a:tc>
                <a:tc>
                  <a:txBody>
                    <a:bodyPr/>
                    <a:lstStyle/>
                    <a:p>
                      <a:r>
                        <a:rPr lang="en-IN" dirty="0" smtClean="0"/>
                        <a:t>TT1</a:t>
                      </a:r>
                      <a:endParaRPr lang="en-IN" dirty="0"/>
                    </a:p>
                  </a:txBody>
                  <a:tcPr/>
                </a:tc>
                <a:tc>
                  <a:txBody>
                    <a:bodyPr/>
                    <a:lstStyle/>
                    <a:p>
                      <a:r>
                        <a:rPr lang="en-IN" dirty="0" smtClean="0"/>
                        <a:t>Humidifier</a:t>
                      </a:r>
                      <a:endParaRPr lang="en-IN" dirty="0"/>
                    </a:p>
                  </a:txBody>
                  <a:tcPr/>
                </a:tc>
                <a:tc>
                  <a:txBody>
                    <a:bodyPr/>
                    <a:lstStyle/>
                    <a:p>
                      <a:r>
                        <a:rPr lang="en-IN" dirty="0" smtClean="0"/>
                        <a:t>1140</a:t>
                      </a:r>
                      <a:endParaRPr lang="en-IN" dirty="0"/>
                    </a:p>
                  </a:txBody>
                  <a:tcPr/>
                </a:tc>
                <a:extLst>
                  <a:ext uri="{0D108BD9-81ED-4DB2-BD59-A6C34878D82A}">
                    <a16:rowId xmlns:a16="http://schemas.microsoft.com/office/drawing/2014/main" val="3016539129"/>
                  </a:ext>
                </a:extLst>
              </a:tr>
              <a:tr h="415842">
                <a:tc>
                  <a:txBody>
                    <a:bodyPr/>
                    <a:lstStyle/>
                    <a:p>
                      <a:r>
                        <a:rPr lang="en-IN" dirty="0" smtClean="0"/>
                        <a:t>3001</a:t>
                      </a:r>
                      <a:endParaRPr lang="en-IN" dirty="0"/>
                    </a:p>
                  </a:txBody>
                  <a:tcPr/>
                </a:tc>
                <a:tc>
                  <a:txBody>
                    <a:bodyPr/>
                    <a:lstStyle/>
                    <a:p>
                      <a:r>
                        <a:rPr lang="en-IN" dirty="0" smtClean="0"/>
                        <a:t>DS10</a:t>
                      </a:r>
                      <a:endParaRPr lang="en-IN" dirty="0"/>
                    </a:p>
                  </a:txBody>
                  <a:tcPr/>
                </a:tc>
                <a:tc>
                  <a:txBody>
                    <a:bodyPr/>
                    <a:lstStyle/>
                    <a:p>
                      <a:r>
                        <a:rPr lang="en-IN" dirty="0" smtClean="0"/>
                        <a:t>Dishwasher</a:t>
                      </a:r>
                      <a:endParaRPr lang="en-IN" dirty="0"/>
                    </a:p>
                  </a:txBody>
                  <a:tcPr/>
                </a:tc>
                <a:tc>
                  <a:txBody>
                    <a:bodyPr/>
                    <a:lstStyle/>
                    <a:p>
                      <a:r>
                        <a:rPr lang="en-IN" dirty="0" smtClean="0"/>
                        <a:t>26200</a:t>
                      </a:r>
                      <a:endParaRPr lang="en-IN" dirty="0"/>
                    </a:p>
                  </a:txBody>
                  <a:tcPr/>
                </a:tc>
                <a:extLst>
                  <a:ext uri="{0D108BD9-81ED-4DB2-BD59-A6C34878D82A}">
                    <a16:rowId xmlns:a16="http://schemas.microsoft.com/office/drawing/2014/main" val="2137307277"/>
                  </a:ext>
                </a:extLst>
              </a:tr>
              <a:tr h="415842">
                <a:tc>
                  <a:txBody>
                    <a:bodyPr/>
                    <a:lstStyle/>
                    <a:p>
                      <a:r>
                        <a:rPr lang="en-IN" dirty="0" smtClean="0"/>
                        <a:t>4019</a:t>
                      </a:r>
                      <a:endParaRPr lang="en-IN" dirty="0"/>
                    </a:p>
                  </a:txBody>
                  <a:tcPr/>
                </a:tc>
                <a:tc>
                  <a:txBody>
                    <a:bodyPr/>
                    <a:lstStyle/>
                    <a:p>
                      <a:r>
                        <a:rPr lang="en-IN" dirty="0" smtClean="0"/>
                        <a:t>C16</a:t>
                      </a:r>
                      <a:endParaRPr lang="en-IN" dirty="0"/>
                    </a:p>
                  </a:txBody>
                  <a:tcPr/>
                </a:tc>
                <a:tc>
                  <a:txBody>
                    <a:bodyPr/>
                    <a:lstStyle/>
                    <a:p>
                      <a:r>
                        <a:rPr lang="en-IN" dirty="0" smtClean="0"/>
                        <a:t>Snow Tire</a:t>
                      </a:r>
                      <a:endParaRPr lang="en-IN" dirty="0"/>
                    </a:p>
                  </a:txBody>
                  <a:tcPr/>
                </a:tc>
                <a:tc>
                  <a:txBody>
                    <a:bodyPr/>
                    <a:lstStyle/>
                    <a:p>
                      <a:r>
                        <a:rPr lang="en-IN" dirty="0" smtClean="0"/>
                        <a:t>8500</a:t>
                      </a:r>
                      <a:endParaRPr lang="en-IN" dirty="0"/>
                    </a:p>
                  </a:txBody>
                  <a:tcPr/>
                </a:tc>
                <a:extLst>
                  <a:ext uri="{0D108BD9-81ED-4DB2-BD59-A6C34878D82A}">
                    <a16:rowId xmlns:a16="http://schemas.microsoft.com/office/drawing/2014/main" val="1209523818"/>
                  </a:ext>
                </a:extLst>
              </a:tr>
              <a:tr h="415842">
                <a:tc>
                  <a:txBody>
                    <a:bodyPr/>
                    <a:lstStyle/>
                    <a:p>
                      <a:r>
                        <a:rPr lang="en-IN" dirty="0" smtClean="0"/>
                        <a:t>4019</a:t>
                      </a:r>
                      <a:endParaRPr lang="en-IN" dirty="0"/>
                    </a:p>
                  </a:txBody>
                  <a:tcPr/>
                </a:tc>
                <a:tc>
                  <a:txBody>
                    <a:bodyPr/>
                    <a:lstStyle/>
                    <a:p>
                      <a:r>
                        <a:rPr lang="en-IN" dirty="0" smtClean="0"/>
                        <a:t>AT146</a:t>
                      </a:r>
                      <a:endParaRPr lang="en-IN" dirty="0"/>
                    </a:p>
                  </a:txBody>
                  <a:tcPr/>
                </a:tc>
                <a:tc>
                  <a:txBody>
                    <a:bodyPr/>
                    <a:lstStyle/>
                    <a:p>
                      <a:r>
                        <a:rPr lang="en-IN" dirty="0" smtClean="0"/>
                        <a:t>Alternator</a:t>
                      </a:r>
                      <a:endParaRPr lang="en-IN" dirty="0"/>
                    </a:p>
                  </a:txBody>
                  <a:tcPr/>
                </a:tc>
                <a:tc>
                  <a:txBody>
                    <a:bodyPr/>
                    <a:lstStyle/>
                    <a:p>
                      <a:r>
                        <a:rPr lang="en-IN" dirty="0" smtClean="0"/>
                        <a:t>6500</a:t>
                      </a:r>
                      <a:endParaRPr lang="en-IN" dirty="0"/>
                    </a:p>
                  </a:txBody>
                  <a:tcPr/>
                </a:tc>
                <a:extLst>
                  <a:ext uri="{0D108BD9-81ED-4DB2-BD59-A6C34878D82A}">
                    <a16:rowId xmlns:a16="http://schemas.microsoft.com/office/drawing/2014/main" val="3343003520"/>
                  </a:ext>
                </a:extLst>
              </a:tr>
              <a:tr h="0">
                <a:tc>
                  <a:txBody>
                    <a:bodyPr/>
                    <a:lstStyle/>
                    <a:p>
                      <a:r>
                        <a:rPr lang="en-IN" dirty="0" smtClean="0"/>
                        <a:t>6012</a:t>
                      </a:r>
                      <a:endParaRPr lang="en-IN" dirty="0"/>
                    </a:p>
                  </a:txBody>
                  <a:tcPr/>
                </a:tc>
                <a:tc>
                  <a:txBody>
                    <a:bodyPr/>
                    <a:lstStyle/>
                    <a:p>
                      <a:r>
                        <a:rPr lang="en-IN" dirty="0" smtClean="0"/>
                        <a:t>S10</a:t>
                      </a:r>
                      <a:endParaRPr lang="en-IN" dirty="0"/>
                    </a:p>
                  </a:txBody>
                  <a:tcPr/>
                </a:tc>
                <a:tc>
                  <a:txBody>
                    <a:bodyPr/>
                    <a:lstStyle/>
                    <a:p>
                      <a:r>
                        <a:rPr lang="en-IN" dirty="0" smtClean="0"/>
                        <a:t>Suit</a:t>
                      </a:r>
                      <a:endParaRPr lang="en-IN" dirty="0"/>
                    </a:p>
                  </a:txBody>
                  <a:tcPr/>
                </a:tc>
                <a:tc>
                  <a:txBody>
                    <a:bodyPr/>
                    <a:lstStyle/>
                    <a:p>
                      <a:r>
                        <a:rPr lang="en-IN" dirty="0" smtClean="0"/>
                        <a:t>2150</a:t>
                      </a:r>
                      <a:endParaRPr lang="en-IN" dirty="0"/>
                    </a:p>
                  </a:txBody>
                  <a:tcPr/>
                </a:tc>
                <a:extLst>
                  <a:ext uri="{0D108BD9-81ED-4DB2-BD59-A6C34878D82A}">
                    <a16:rowId xmlns:a16="http://schemas.microsoft.com/office/drawing/2014/main" val="423075077"/>
                  </a:ext>
                </a:extLst>
              </a:tr>
            </a:tbl>
          </a:graphicData>
        </a:graphic>
      </p:graphicFrame>
      <p:grpSp>
        <p:nvGrpSpPr>
          <p:cNvPr id="9" name="Group 8"/>
          <p:cNvGrpSpPr/>
          <p:nvPr/>
        </p:nvGrpSpPr>
        <p:grpSpPr>
          <a:xfrm>
            <a:off x="2403565" y="5643151"/>
            <a:ext cx="8133806" cy="1092631"/>
            <a:chOff x="2403565" y="5643151"/>
            <a:chExt cx="8133806" cy="1092631"/>
          </a:xfrm>
        </p:grpSpPr>
        <p:sp>
          <p:nvSpPr>
            <p:cNvPr id="6" name="TextBox 5"/>
            <p:cNvSpPr txBox="1"/>
            <p:nvPr/>
          </p:nvSpPr>
          <p:spPr>
            <a:xfrm>
              <a:off x="2403565" y="5643151"/>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Data File</a:t>
              </a:r>
              <a:endParaRPr lang="en-IN" dirty="0"/>
            </a:p>
          </p:txBody>
        </p:sp>
        <p:sp>
          <p:nvSpPr>
            <p:cNvPr id="7" name="TextBox 6"/>
            <p:cNvSpPr txBox="1"/>
            <p:nvPr/>
          </p:nvSpPr>
          <p:spPr>
            <a:xfrm>
              <a:off x="8421188" y="5904785"/>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Item File</a:t>
              </a:r>
              <a:endParaRPr lang="en-IN" dirty="0"/>
            </a:p>
          </p:txBody>
        </p:sp>
        <p:sp>
          <p:nvSpPr>
            <p:cNvPr id="8" name="TextBox 7"/>
            <p:cNvSpPr txBox="1"/>
            <p:nvPr/>
          </p:nvSpPr>
          <p:spPr>
            <a:xfrm>
              <a:off x="4088675" y="6274117"/>
              <a:ext cx="3709852" cy="461665"/>
            </a:xfrm>
            <a:prstGeom prst="rect">
              <a:avLst/>
            </a:prstGeom>
            <a:noFill/>
          </p:spPr>
          <p:txBody>
            <a:bodyPr wrap="square" rtlCol="0">
              <a:spAutoFit/>
            </a:bodyPr>
            <a:lstStyle/>
            <a:p>
              <a:r>
                <a:rPr lang="en-IN" sz="2400" dirty="0" smtClean="0">
                  <a:latin typeface="Verdana" panose="020B0604030504040204" pitchFamily="34" charset="0"/>
                  <a:ea typeface="Verdana" panose="020B0604030504040204" pitchFamily="34" charset="0"/>
                </a:rPr>
                <a:t>First Normal Form File</a:t>
              </a:r>
              <a:endParaRPr lang="en-IN" sz="2400" dirty="0">
                <a:latin typeface="Verdana" panose="020B0604030504040204" pitchFamily="34" charset="0"/>
                <a:ea typeface="Verdana" panose="020B0604030504040204" pitchFamily="34" charset="0"/>
              </a:endParaRPr>
            </a:p>
          </p:txBody>
        </p:sp>
      </p:grpSp>
      <p:graphicFrame>
        <p:nvGraphicFramePr>
          <p:cNvPr id="10" name="Table 9"/>
          <p:cNvGraphicFramePr>
            <a:graphicFrameLocks noGrp="1"/>
          </p:cNvGraphicFramePr>
          <p:nvPr>
            <p:extLst>
              <p:ext uri="{D42A27DB-BD31-4B8C-83A1-F6EECF244321}">
                <p14:modId xmlns:p14="http://schemas.microsoft.com/office/powerpoint/2010/main" val="2844761869"/>
              </p:ext>
            </p:extLst>
          </p:nvPr>
        </p:nvGraphicFramePr>
        <p:xfrm>
          <a:off x="1034867" y="1082202"/>
          <a:ext cx="5061133" cy="4327604"/>
        </p:xfrm>
        <a:graphic>
          <a:graphicData uri="http://schemas.openxmlformats.org/drawingml/2006/table">
            <a:tbl>
              <a:tblPr firstRow="1" bandRow="1">
                <a:tableStyleId>{5C22544A-7EE6-4342-B048-85BDC9FD1C3A}</a:tableStyleId>
              </a:tblPr>
              <a:tblGrid>
                <a:gridCol w="1377407">
                  <a:extLst>
                    <a:ext uri="{9D8B030D-6E8A-4147-A177-3AD203B41FA5}">
                      <a16:colId xmlns:a16="http://schemas.microsoft.com/office/drawing/2014/main" val="838991112"/>
                    </a:ext>
                  </a:extLst>
                </a:gridCol>
                <a:gridCol w="1136469">
                  <a:extLst>
                    <a:ext uri="{9D8B030D-6E8A-4147-A177-3AD203B41FA5}">
                      <a16:colId xmlns:a16="http://schemas.microsoft.com/office/drawing/2014/main" val="521209123"/>
                    </a:ext>
                  </a:extLst>
                </a:gridCol>
                <a:gridCol w="1136469">
                  <a:extLst>
                    <a:ext uri="{9D8B030D-6E8A-4147-A177-3AD203B41FA5}">
                      <a16:colId xmlns:a16="http://schemas.microsoft.com/office/drawing/2014/main" val="1944496154"/>
                    </a:ext>
                  </a:extLst>
                </a:gridCol>
                <a:gridCol w="1410788">
                  <a:extLst>
                    <a:ext uri="{9D8B030D-6E8A-4147-A177-3AD203B41FA5}">
                      <a16:colId xmlns:a16="http://schemas.microsoft.com/office/drawing/2014/main" val="1844354755"/>
                    </a:ext>
                  </a:extLst>
                </a:gridCol>
              </a:tblGrid>
              <a:tr h="1275067">
                <a:tc>
                  <a:txBody>
                    <a:bodyPr/>
                    <a:lstStyle/>
                    <a:p>
                      <a:r>
                        <a:rPr lang="en-IN" dirty="0" smtClean="0"/>
                        <a:t>* </a:t>
                      </a:r>
                    </a:p>
                    <a:p>
                      <a:r>
                        <a:rPr lang="en-IN" dirty="0" smtClean="0"/>
                        <a:t>Employee       Number</a:t>
                      </a:r>
                      <a:endParaRPr lang="en-IN" dirty="0"/>
                    </a:p>
                  </a:txBody>
                  <a:tcPr/>
                </a:tc>
                <a:tc>
                  <a:txBody>
                    <a:bodyPr/>
                    <a:lstStyle/>
                    <a:p>
                      <a:r>
                        <a:rPr lang="en-IN" dirty="0" smtClean="0"/>
                        <a:t>Employee Name</a:t>
                      </a:r>
                      <a:endParaRPr lang="en-IN" dirty="0"/>
                    </a:p>
                  </a:txBody>
                  <a:tcPr/>
                </a:tc>
                <a:tc>
                  <a:txBody>
                    <a:bodyPr/>
                    <a:lstStyle/>
                    <a:p>
                      <a:r>
                        <a:rPr lang="en-IN" dirty="0" smtClean="0"/>
                        <a:t>Branch Name</a:t>
                      </a:r>
                      <a:endParaRPr lang="en-IN" dirty="0"/>
                    </a:p>
                  </a:txBody>
                  <a:tcPr/>
                </a:tc>
                <a:tc>
                  <a:txBody>
                    <a:bodyPr/>
                    <a:lstStyle/>
                    <a:p>
                      <a:r>
                        <a:rPr lang="en-IN" dirty="0" smtClean="0"/>
                        <a:t>Department</a:t>
                      </a:r>
                      <a:endParaRPr lang="en-IN" dirty="0"/>
                    </a:p>
                  </a:txBody>
                  <a:tcPr/>
                </a:tc>
                <a:extLst>
                  <a:ext uri="{0D108BD9-81ED-4DB2-BD59-A6C34878D82A}">
                    <a16:rowId xmlns:a16="http://schemas.microsoft.com/office/drawing/2014/main" val="3517507065"/>
                  </a:ext>
                </a:extLst>
              </a:tr>
              <a:tr h="619318">
                <a:tc>
                  <a:txBody>
                    <a:bodyPr/>
                    <a:lstStyle/>
                    <a:p>
                      <a:r>
                        <a:rPr lang="en-IN" dirty="0" smtClean="0"/>
                        <a:t>2001</a:t>
                      </a:r>
                      <a:endParaRPr lang="en-IN" dirty="0"/>
                    </a:p>
                  </a:txBody>
                  <a:tcPr/>
                </a:tc>
                <a:tc>
                  <a:txBody>
                    <a:bodyPr/>
                    <a:lstStyle/>
                    <a:p>
                      <a:r>
                        <a:rPr lang="en-IN" dirty="0" err="1" smtClean="0"/>
                        <a:t>Rajan</a:t>
                      </a:r>
                      <a:endParaRPr lang="en-IN" dirty="0"/>
                    </a:p>
                  </a:txBody>
                  <a:tcPr/>
                </a:tc>
                <a:tc>
                  <a:txBody>
                    <a:bodyPr/>
                    <a:lstStyle/>
                    <a:p>
                      <a:r>
                        <a:rPr lang="en-IN" dirty="0" smtClean="0"/>
                        <a:t>Delhi</a:t>
                      </a:r>
                      <a:endParaRPr lang="en-IN" dirty="0"/>
                    </a:p>
                  </a:txBody>
                  <a:tcPr/>
                </a:tc>
                <a:tc>
                  <a:txBody>
                    <a:bodyPr/>
                    <a:lstStyle/>
                    <a:p>
                      <a:r>
                        <a:rPr lang="en-IN" dirty="0" smtClean="0"/>
                        <a:t>Hardware</a:t>
                      </a:r>
                      <a:endParaRPr lang="en-IN" dirty="0"/>
                    </a:p>
                  </a:txBody>
                  <a:tcPr/>
                </a:tc>
                <a:extLst>
                  <a:ext uri="{0D108BD9-81ED-4DB2-BD59-A6C34878D82A}">
                    <a16:rowId xmlns:a16="http://schemas.microsoft.com/office/drawing/2014/main" val="1908846767"/>
                  </a:ext>
                </a:extLst>
              </a:tr>
              <a:tr h="892547">
                <a:tc>
                  <a:txBody>
                    <a:bodyPr/>
                    <a:lstStyle/>
                    <a:p>
                      <a:r>
                        <a:rPr lang="en-IN" dirty="0" smtClean="0"/>
                        <a:t>3001</a:t>
                      </a:r>
                      <a:endParaRPr lang="en-IN" dirty="0"/>
                    </a:p>
                  </a:txBody>
                  <a:tcPr/>
                </a:tc>
                <a:tc>
                  <a:txBody>
                    <a:bodyPr/>
                    <a:lstStyle/>
                    <a:p>
                      <a:r>
                        <a:rPr lang="en-IN" dirty="0" err="1" smtClean="0"/>
                        <a:t>Sudhir</a:t>
                      </a:r>
                      <a:endParaRPr lang="en-IN" dirty="0"/>
                    </a:p>
                  </a:txBody>
                  <a:tcPr/>
                </a:tc>
                <a:tc>
                  <a:txBody>
                    <a:bodyPr/>
                    <a:lstStyle/>
                    <a:p>
                      <a:r>
                        <a:rPr lang="en-IN" dirty="0" smtClean="0"/>
                        <a:t>Noida</a:t>
                      </a:r>
                      <a:endParaRPr lang="en-IN" dirty="0"/>
                    </a:p>
                  </a:txBody>
                  <a:tcPr/>
                </a:tc>
                <a:tc>
                  <a:txBody>
                    <a:bodyPr/>
                    <a:lstStyle/>
                    <a:p>
                      <a:r>
                        <a:rPr lang="en-IN" dirty="0" smtClean="0"/>
                        <a:t>Home Appliances</a:t>
                      </a:r>
                      <a:endParaRPr lang="en-IN" dirty="0"/>
                    </a:p>
                  </a:txBody>
                  <a:tcPr/>
                </a:tc>
                <a:extLst>
                  <a:ext uri="{0D108BD9-81ED-4DB2-BD59-A6C34878D82A}">
                    <a16:rowId xmlns:a16="http://schemas.microsoft.com/office/drawing/2014/main" val="851433758"/>
                  </a:ext>
                </a:extLst>
              </a:tr>
              <a:tr h="619318">
                <a:tc>
                  <a:txBody>
                    <a:bodyPr/>
                    <a:lstStyle/>
                    <a:p>
                      <a:r>
                        <a:rPr lang="en-IN" dirty="0" smtClean="0"/>
                        <a:t>4019</a:t>
                      </a:r>
                      <a:endParaRPr lang="en-IN" dirty="0"/>
                    </a:p>
                  </a:txBody>
                  <a:tcPr/>
                </a:tc>
                <a:tc>
                  <a:txBody>
                    <a:bodyPr/>
                    <a:lstStyle/>
                    <a:p>
                      <a:r>
                        <a:rPr lang="en-IN" dirty="0" err="1" smtClean="0"/>
                        <a:t>Balwant</a:t>
                      </a:r>
                      <a:endParaRPr lang="en-IN" dirty="0"/>
                    </a:p>
                  </a:txBody>
                  <a:tcPr/>
                </a:tc>
                <a:tc>
                  <a:txBody>
                    <a:bodyPr/>
                    <a:lstStyle/>
                    <a:p>
                      <a:r>
                        <a:rPr lang="en-IN" dirty="0" smtClean="0"/>
                        <a:t>Gurgaon</a:t>
                      </a:r>
                      <a:endParaRPr lang="en-IN" dirty="0"/>
                    </a:p>
                  </a:txBody>
                  <a:tcPr/>
                </a:tc>
                <a:tc>
                  <a:txBody>
                    <a:bodyPr/>
                    <a:lstStyle/>
                    <a:p>
                      <a:r>
                        <a:rPr lang="en-IN" dirty="0" smtClean="0"/>
                        <a:t>Auto parts</a:t>
                      </a:r>
                      <a:endParaRPr lang="en-IN" dirty="0"/>
                    </a:p>
                  </a:txBody>
                  <a:tcPr/>
                </a:tc>
                <a:extLst>
                  <a:ext uri="{0D108BD9-81ED-4DB2-BD59-A6C34878D82A}">
                    <a16:rowId xmlns:a16="http://schemas.microsoft.com/office/drawing/2014/main" val="1778037345"/>
                  </a:ext>
                </a:extLst>
              </a:tr>
              <a:tr h="921354">
                <a:tc>
                  <a:txBody>
                    <a:bodyPr/>
                    <a:lstStyle/>
                    <a:p>
                      <a:r>
                        <a:rPr lang="en-IN" dirty="0" smtClean="0"/>
                        <a:t>6012</a:t>
                      </a:r>
                      <a:endParaRPr lang="en-IN" dirty="0"/>
                    </a:p>
                  </a:txBody>
                  <a:tcPr/>
                </a:tc>
                <a:tc>
                  <a:txBody>
                    <a:bodyPr/>
                    <a:lstStyle/>
                    <a:p>
                      <a:r>
                        <a:rPr lang="en-IN" dirty="0" err="1" smtClean="0"/>
                        <a:t>Anand</a:t>
                      </a:r>
                      <a:endParaRPr lang="en-IN" dirty="0"/>
                    </a:p>
                  </a:txBody>
                  <a:tcPr/>
                </a:tc>
                <a:tc>
                  <a:txBody>
                    <a:bodyPr/>
                    <a:lstStyle/>
                    <a:p>
                      <a:r>
                        <a:rPr lang="en-IN" dirty="0" smtClean="0"/>
                        <a:t>Faridabad</a:t>
                      </a:r>
                      <a:endParaRPr lang="en-IN" dirty="0"/>
                    </a:p>
                  </a:txBody>
                  <a:tcPr/>
                </a:tc>
                <a:tc>
                  <a:txBody>
                    <a:bodyPr/>
                    <a:lstStyle/>
                    <a:p>
                      <a:r>
                        <a:rPr lang="en-IN" dirty="0" smtClean="0"/>
                        <a:t>Men’s Clothing</a:t>
                      </a:r>
                      <a:endParaRPr lang="en-IN" dirty="0"/>
                    </a:p>
                  </a:txBody>
                  <a:tcPr/>
                </a:tc>
                <a:extLst>
                  <a:ext uri="{0D108BD9-81ED-4DB2-BD59-A6C34878D82A}">
                    <a16:rowId xmlns:a16="http://schemas.microsoft.com/office/drawing/2014/main" val="2689132414"/>
                  </a:ext>
                </a:extLst>
              </a:tr>
            </a:tbl>
          </a:graphicData>
        </a:graphic>
      </p:graphicFrame>
    </p:spTree>
    <p:extLst>
      <p:ext uri="{BB962C8B-B14F-4D97-AF65-F5344CB8AC3E}">
        <p14:creationId xmlns:p14="http://schemas.microsoft.com/office/powerpoint/2010/main" val="9721492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5"/>
            <a:ext cx="10515600" cy="574766"/>
          </a:xfrm>
        </p:spPr>
        <p:txBody>
          <a:bodyPr>
            <a:normAutofit/>
          </a:bodyPr>
          <a:lstStyle/>
          <a:p>
            <a:r>
              <a:rPr lang="en-IN" sz="3200" b="1" dirty="0" smtClean="0">
                <a:latin typeface="Verdana" panose="020B0604030504040204" pitchFamily="34" charset="0"/>
                <a:ea typeface="Verdana" panose="020B0604030504040204" pitchFamily="34" charset="0"/>
              </a:rPr>
              <a:t>2</a:t>
            </a:r>
            <a:r>
              <a:rPr lang="en-IN" sz="3200" b="1" baseline="30000" dirty="0" smtClean="0">
                <a:latin typeface="Verdana" panose="020B0604030504040204" pitchFamily="34" charset="0"/>
                <a:ea typeface="Verdana" panose="020B0604030504040204" pitchFamily="34" charset="0"/>
              </a:rPr>
              <a:t>nd</a:t>
            </a:r>
            <a:r>
              <a:rPr lang="en-IN" sz="3200" b="1" dirty="0" smtClean="0">
                <a:latin typeface="Verdana" panose="020B0604030504040204" pitchFamily="34" charset="0"/>
                <a:ea typeface="Verdana" panose="020B0604030504040204" pitchFamily="34" charset="0"/>
              </a:rPr>
              <a:t> Normal Form (2NF)</a:t>
            </a:r>
            <a:endParaRPr lang="en-IN" sz="32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849086"/>
            <a:ext cx="10515600" cy="5865223"/>
          </a:xfrm>
        </p:spPr>
        <p:txBody>
          <a:bodyPr>
            <a:normAutofit/>
          </a:bodyPr>
          <a:lstStyle/>
          <a:p>
            <a:pPr algn="just"/>
            <a:r>
              <a:rPr lang="en-IN" dirty="0" smtClean="0"/>
              <a:t>A table is in second normal form if its all non-key fields are fully dependent on the whole key. This means that each field in a table must depend on the entire key.</a:t>
            </a:r>
          </a:p>
          <a:p>
            <a:pPr algn="just"/>
            <a:endParaRPr lang="en-IN" dirty="0" smtClean="0"/>
          </a:p>
          <a:p>
            <a:pPr algn="just"/>
            <a:r>
              <a:rPr lang="en-IN" dirty="0" smtClean="0"/>
              <a:t>Those that do not depend upon the combination key, are moved to another table on whose key they depend on. Structure which do not contain combination keys are automatically in the 2NF.</a:t>
            </a:r>
          </a:p>
          <a:p>
            <a:pPr algn="just"/>
            <a:endParaRPr lang="en-IN" dirty="0" smtClean="0"/>
          </a:p>
          <a:p>
            <a:pPr algn="just"/>
            <a:r>
              <a:rPr lang="en-IN" dirty="0" smtClean="0"/>
              <a:t>The second Normalization makes sure that each non-key attribute depends on a key attribute or on a concatenated key. Non-key attributes that do not meet this condition are split into simpler entities.</a:t>
            </a:r>
          </a:p>
          <a:p>
            <a:pPr marL="0" indent="0" algn="just">
              <a:buNone/>
            </a:pPr>
            <a:endParaRPr lang="en-IN" u="sng" dirty="0"/>
          </a:p>
        </p:txBody>
      </p:sp>
    </p:spTree>
    <p:extLst>
      <p:ext uri="{BB962C8B-B14F-4D97-AF65-F5344CB8AC3E}">
        <p14:creationId xmlns:p14="http://schemas.microsoft.com/office/powerpoint/2010/main" val="38951810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755"/>
            <a:ext cx="10515600" cy="509452"/>
          </a:xfrm>
        </p:spPr>
        <p:txBody>
          <a:bodyPr>
            <a:noAutofit/>
          </a:bodyPr>
          <a:lstStyle/>
          <a:p>
            <a:r>
              <a:rPr lang="en-IN" sz="2200" b="1" dirty="0">
                <a:latin typeface="Verdana" panose="020B0604030504040204" pitchFamily="34" charset="0"/>
                <a:ea typeface="Verdana" panose="020B0604030504040204" pitchFamily="34" charset="0"/>
              </a:rPr>
              <a:t>2</a:t>
            </a:r>
            <a:r>
              <a:rPr lang="en-IN" sz="2200" b="1" baseline="30000" dirty="0">
                <a:latin typeface="Verdana" panose="020B0604030504040204" pitchFamily="34" charset="0"/>
                <a:ea typeface="Verdana" panose="020B0604030504040204" pitchFamily="34" charset="0"/>
              </a:rPr>
              <a:t>nd</a:t>
            </a:r>
            <a:r>
              <a:rPr lang="en-IN" sz="2200" b="1" dirty="0">
                <a:latin typeface="Verdana" panose="020B0604030504040204" pitchFamily="34" charset="0"/>
                <a:ea typeface="Verdana" panose="020B0604030504040204" pitchFamily="34" charset="0"/>
              </a:rPr>
              <a:t> Normal Form (2NF</a:t>
            </a:r>
            <a:r>
              <a:rPr lang="en-IN" sz="2200" b="1" dirty="0" smtClean="0">
                <a:latin typeface="Verdana" panose="020B0604030504040204" pitchFamily="34" charset="0"/>
                <a:ea typeface="Verdana" panose="020B0604030504040204" pitchFamily="34" charset="0"/>
              </a:rPr>
              <a:t>) contd.(understanding problem with 2NF)</a:t>
            </a:r>
            <a:endParaRPr lang="en-IN" sz="2200" dirty="0"/>
          </a:p>
        </p:txBody>
      </p:sp>
      <p:sp>
        <p:nvSpPr>
          <p:cNvPr id="3" name="Content Placeholder 2"/>
          <p:cNvSpPr>
            <a:spLocks noGrp="1"/>
          </p:cNvSpPr>
          <p:nvPr>
            <p:ph idx="1"/>
          </p:nvPr>
        </p:nvSpPr>
        <p:spPr>
          <a:xfrm>
            <a:off x="838200" y="849086"/>
            <a:ext cx="10515600" cy="5865223"/>
          </a:xfrm>
        </p:spPr>
        <p:txBody>
          <a:bodyPr/>
          <a:lstStyle/>
          <a:p>
            <a:pPr algn="just">
              <a:buFont typeface="Wingdings" panose="05000000000000000000" pitchFamily="2" charset="2"/>
              <a:buChar char="v"/>
            </a:pPr>
            <a:r>
              <a:rPr lang="en-IN" dirty="0" smtClean="0"/>
              <a:t>In table “Salesman Data File” each attribute depends on the primary key “Employee Number". In “Salesman Item File” the attribute “Sales Price” depends on the concatenated key (“Employee Number” and “Item Number”). The way the file is setup, the “Sales Price” is strictly related to “Employee Number” and the “Item Number” of the sale. Also the attribute “Item Description” tags “Item Number”, which is the part of the concatenated key. “Item Number” is not related in any way to the “Employee Number Field”. </a:t>
            </a:r>
            <a:r>
              <a:rPr lang="en-IN" u="sng" dirty="0" smtClean="0"/>
              <a:t>This causes several concerns-</a:t>
            </a:r>
          </a:p>
          <a:p>
            <a:pPr algn="just">
              <a:buFont typeface="Wingdings" panose="05000000000000000000" pitchFamily="2" charset="2"/>
              <a:buChar char="v"/>
            </a:pPr>
            <a:endParaRPr lang="en-IN" u="sng" dirty="0" smtClean="0"/>
          </a:p>
          <a:p>
            <a:pPr lvl="1" algn="just">
              <a:buFont typeface="Wingdings" panose="05000000000000000000" pitchFamily="2" charset="2"/>
              <a:buChar char="v"/>
            </a:pPr>
            <a:r>
              <a:rPr lang="en-IN" dirty="0" smtClean="0"/>
              <a:t>An employee transfer would make it difficult to maintain records because the sales information  would be dropped when the salesman leaves the department. This is because sales information (Item Number, Sales Price) is linked with employee number in the “Sales Item File”.</a:t>
            </a:r>
            <a:endParaRPr lang="en-IN" dirty="0"/>
          </a:p>
        </p:txBody>
      </p:sp>
    </p:spTree>
    <p:extLst>
      <p:ext uri="{BB962C8B-B14F-4D97-AF65-F5344CB8AC3E}">
        <p14:creationId xmlns:p14="http://schemas.microsoft.com/office/powerpoint/2010/main" val="990030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548639"/>
          </a:xfrm>
        </p:spPr>
        <p:txBody>
          <a:bodyPr>
            <a:normAutofit/>
          </a:bodyPr>
          <a:lstStyle/>
          <a:p>
            <a:r>
              <a:rPr lang="en-IN" sz="2400" b="1" dirty="0">
                <a:latin typeface="Verdana" panose="020B0604030504040204" pitchFamily="34" charset="0"/>
                <a:ea typeface="Verdana" panose="020B0604030504040204" pitchFamily="34" charset="0"/>
              </a:rPr>
              <a:t>2</a:t>
            </a:r>
            <a:r>
              <a:rPr lang="en-IN" sz="2400" b="1" baseline="30000" dirty="0">
                <a:latin typeface="Verdana" panose="020B0604030504040204" pitchFamily="34" charset="0"/>
                <a:ea typeface="Verdana" panose="020B0604030504040204" pitchFamily="34" charset="0"/>
              </a:rPr>
              <a:t>nd</a:t>
            </a:r>
            <a:r>
              <a:rPr lang="en-IN" sz="2400" b="1" dirty="0">
                <a:latin typeface="Verdana" panose="020B0604030504040204" pitchFamily="34" charset="0"/>
                <a:ea typeface="Verdana" panose="020B0604030504040204" pitchFamily="34" charset="0"/>
              </a:rPr>
              <a:t> Normal Form (2NF) contd</a:t>
            </a:r>
            <a:r>
              <a:rPr lang="en-IN" sz="2400" b="1" dirty="0" smtClean="0">
                <a:latin typeface="Verdana" panose="020B0604030504040204" pitchFamily="34" charset="0"/>
                <a:ea typeface="Verdana" panose="020B0604030504040204" pitchFamily="34" charset="0"/>
              </a:rPr>
              <a:t>.(Solving </a:t>
            </a:r>
            <a:r>
              <a:rPr lang="en-IN" sz="2400" b="1" dirty="0">
                <a:latin typeface="Verdana" panose="020B0604030504040204" pitchFamily="34" charset="0"/>
                <a:ea typeface="Verdana" panose="020B0604030504040204" pitchFamily="34" charset="0"/>
              </a:rPr>
              <a:t>problem with 2NF)</a:t>
            </a:r>
            <a:endParaRPr lang="en-IN" sz="2400" dirty="0"/>
          </a:p>
        </p:txBody>
      </p:sp>
      <p:sp>
        <p:nvSpPr>
          <p:cNvPr id="3" name="Content Placeholder 2"/>
          <p:cNvSpPr>
            <a:spLocks noGrp="1"/>
          </p:cNvSpPr>
          <p:nvPr>
            <p:ph idx="1"/>
          </p:nvPr>
        </p:nvSpPr>
        <p:spPr>
          <a:xfrm>
            <a:off x="838200" y="783770"/>
            <a:ext cx="10515600" cy="5956663"/>
          </a:xfrm>
        </p:spPr>
        <p:txBody>
          <a:bodyPr/>
          <a:lstStyle/>
          <a:p>
            <a:pPr algn="just"/>
            <a:r>
              <a:rPr lang="en-IN" dirty="0" smtClean="0"/>
              <a:t>To solve this problem we create a new independent entities for “Item Description” and “Sales Price”. In one file, we create “Item Description” attribute with “Item Number” key from the table “Salesman Item File”. The remaining attributes (Employee Number, Item Number and Sales Price) becomes the second relation or file.</a:t>
            </a:r>
          </a:p>
          <a:p>
            <a:pPr algn="just"/>
            <a:endParaRPr lang="en-IN" b="1" dirty="0" smtClean="0"/>
          </a:p>
          <a:p>
            <a:pPr algn="just"/>
            <a:r>
              <a:rPr lang="en-IN" b="1" dirty="0" smtClean="0"/>
              <a:t>The creation of second relation offers several benefits. “</a:t>
            </a:r>
            <a:r>
              <a:rPr lang="en-IN" dirty="0" smtClean="0"/>
              <a:t>Sales Item” can be added without being tagged to specific salesman. If the item changes we need to change the “Item File” only. If a Salesman Leaves the department, it would have no direct effect on the status of the item sold.</a:t>
            </a:r>
            <a:endParaRPr lang="en-IN" dirty="0"/>
          </a:p>
        </p:txBody>
      </p:sp>
    </p:spTree>
    <p:extLst>
      <p:ext uri="{BB962C8B-B14F-4D97-AF65-F5344CB8AC3E}">
        <p14:creationId xmlns:p14="http://schemas.microsoft.com/office/powerpoint/2010/main" val="30971477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7"/>
            <a:ext cx="10515600" cy="522513"/>
          </a:xfrm>
        </p:spPr>
        <p:txBody>
          <a:bodyPr>
            <a:noAutofit/>
          </a:bodyPr>
          <a:lstStyle/>
          <a:p>
            <a:r>
              <a:rPr lang="en-IN" sz="2400" b="1" dirty="0">
                <a:latin typeface="Verdana" panose="020B0604030504040204" pitchFamily="34" charset="0"/>
                <a:ea typeface="Verdana" panose="020B0604030504040204" pitchFamily="34" charset="0"/>
              </a:rPr>
              <a:t>2</a:t>
            </a:r>
            <a:r>
              <a:rPr lang="en-IN" sz="2400" b="1" baseline="30000" dirty="0">
                <a:latin typeface="Verdana" panose="020B0604030504040204" pitchFamily="34" charset="0"/>
                <a:ea typeface="Verdana" panose="020B0604030504040204" pitchFamily="34" charset="0"/>
              </a:rPr>
              <a:t>nd</a:t>
            </a:r>
            <a:r>
              <a:rPr lang="en-IN" sz="2400" b="1" dirty="0">
                <a:latin typeface="Verdana" panose="020B0604030504040204" pitchFamily="34" charset="0"/>
                <a:ea typeface="Verdana" panose="020B0604030504040204" pitchFamily="34" charset="0"/>
              </a:rPr>
              <a:t> Normal Form (2NF) contd.(Solving problem with 2NF)</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1522773380"/>
              </p:ext>
            </p:extLst>
          </p:nvPr>
        </p:nvGraphicFramePr>
        <p:xfrm>
          <a:off x="303347" y="1802675"/>
          <a:ext cx="4921796" cy="3174273"/>
        </p:xfrm>
        <a:graphic>
          <a:graphicData uri="http://schemas.openxmlformats.org/drawingml/2006/table">
            <a:tbl>
              <a:tblPr firstRow="1" bandRow="1">
                <a:tableStyleId>{5C22544A-7EE6-4342-B048-85BDC9FD1C3A}</a:tableStyleId>
              </a:tblPr>
              <a:tblGrid>
                <a:gridCol w="1198882">
                  <a:extLst>
                    <a:ext uri="{9D8B030D-6E8A-4147-A177-3AD203B41FA5}">
                      <a16:colId xmlns:a16="http://schemas.microsoft.com/office/drawing/2014/main" val="838991112"/>
                    </a:ext>
                  </a:extLst>
                </a:gridCol>
                <a:gridCol w="1162594">
                  <a:extLst>
                    <a:ext uri="{9D8B030D-6E8A-4147-A177-3AD203B41FA5}">
                      <a16:colId xmlns:a16="http://schemas.microsoft.com/office/drawing/2014/main" val="521209123"/>
                    </a:ext>
                  </a:extLst>
                </a:gridCol>
                <a:gridCol w="1123406">
                  <a:extLst>
                    <a:ext uri="{9D8B030D-6E8A-4147-A177-3AD203B41FA5}">
                      <a16:colId xmlns:a16="http://schemas.microsoft.com/office/drawing/2014/main" val="1944496154"/>
                    </a:ext>
                  </a:extLst>
                </a:gridCol>
                <a:gridCol w="1436914">
                  <a:extLst>
                    <a:ext uri="{9D8B030D-6E8A-4147-A177-3AD203B41FA5}">
                      <a16:colId xmlns:a16="http://schemas.microsoft.com/office/drawing/2014/main" val="1844354755"/>
                    </a:ext>
                  </a:extLst>
                </a:gridCol>
              </a:tblGrid>
              <a:tr h="935254">
                <a:tc>
                  <a:txBody>
                    <a:bodyPr/>
                    <a:lstStyle/>
                    <a:p>
                      <a:r>
                        <a:rPr lang="en-IN" dirty="0" smtClean="0"/>
                        <a:t>* </a:t>
                      </a:r>
                    </a:p>
                    <a:p>
                      <a:r>
                        <a:rPr lang="en-IN" dirty="0" smtClean="0"/>
                        <a:t>Employee       Number</a:t>
                      </a:r>
                      <a:endParaRPr lang="en-IN" dirty="0"/>
                    </a:p>
                  </a:txBody>
                  <a:tcPr/>
                </a:tc>
                <a:tc>
                  <a:txBody>
                    <a:bodyPr/>
                    <a:lstStyle/>
                    <a:p>
                      <a:endParaRPr lang="en-IN" dirty="0" smtClean="0"/>
                    </a:p>
                    <a:p>
                      <a:r>
                        <a:rPr lang="en-IN" dirty="0" smtClean="0"/>
                        <a:t>Employee Name</a:t>
                      </a:r>
                      <a:endParaRPr lang="en-IN" dirty="0"/>
                    </a:p>
                  </a:txBody>
                  <a:tcPr/>
                </a:tc>
                <a:tc>
                  <a:txBody>
                    <a:bodyPr/>
                    <a:lstStyle/>
                    <a:p>
                      <a:endParaRPr lang="en-IN" dirty="0" smtClean="0"/>
                    </a:p>
                    <a:p>
                      <a:r>
                        <a:rPr lang="en-IN" dirty="0" smtClean="0"/>
                        <a:t>Branch Name</a:t>
                      </a:r>
                      <a:endParaRPr lang="en-IN" dirty="0"/>
                    </a:p>
                  </a:txBody>
                  <a:tcPr/>
                </a:tc>
                <a:tc>
                  <a:txBody>
                    <a:bodyPr/>
                    <a:lstStyle/>
                    <a:p>
                      <a:endParaRPr lang="en-IN" dirty="0" smtClean="0"/>
                    </a:p>
                    <a:p>
                      <a:r>
                        <a:rPr lang="en-IN" dirty="0" smtClean="0"/>
                        <a:t>Department</a:t>
                      </a:r>
                      <a:endParaRPr lang="en-IN" dirty="0"/>
                    </a:p>
                  </a:txBody>
                  <a:tcPr/>
                </a:tc>
                <a:extLst>
                  <a:ext uri="{0D108BD9-81ED-4DB2-BD59-A6C34878D82A}">
                    <a16:rowId xmlns:a16="http://schemas.microsoft.com/office/drawing/2014/main" val="3517507065"/>
                  </a:ext>
                </a:extLst>
              </a:tr>
              <a:tr h="454266">
                <a:tc>
                  <a:txBody>
                    <a:bodyPr/>
                    <a:lstStyle/>
                    <a:p>
                      <a:r>
                        <a:rPr lang="en-IN" dirty="0" smtClean="0"/>
                        <a:t>2001</a:t>
                      </a:r>
                      <a:endParaRPr lang="en-IN" dirty="0"/>
                    </a:p>
                  </a:txBody>
                  <a:tcPr/>
                </a:tc>
                <a:tc>
                  <a:txBody>
                    <a:bodyPr/>
                    <a:lstStyle/>
                    <a:p>
                      <a:r>
                        <a:rPr lang="en-IN" dirty="0" err="1" smtClean="0"/>
                        <a:t>Rajan</a:t>
                      </a:r>
                      <a:endParaRPr lang="en-IN" dirty="0"/>
                    </a:p>
                  </a:txBody>
                  <a:tcPr/>
                </a:tc>
                <a:tc>
                  <a:txBody>
                    <a:bodyPr/>
                    <a:lstStyle/>
                    <a:p>
                      <a:r>
                        <a:rPr lang="en-IN" dirty="0" smtClean="0"/>
                        <a:t>Delhi</a:t>
                      </a:r>
                      <a:endParaRPr lang="en-IN" dirty="0"/>
                    </a:p>
                  </a:txBody>
                  <a:tcPr/>
                </a:tc>
                <a:tc>
                  <a:txBody>
                    <a:bodyPr/>
                    <a:lstStyle/>
                    <a:p>
                      <a:r>
                        <a:rPr lang="en-IN" dirty="0" smtClean="0"/>
                        <a:t>Hardware</a:t>
                      </a:r>
                      <a:endParaRPr lang="en-IN" dirty="0"/>
                    </a:p>
                  </a:txBody>
                  <a:tcPr/>
                </a:tc>
                <a:extLst>
                  <a:ext uri="{0D108BD9-81ED-4DB2-BD59-A6C34878D82A}">
                    <a16:rowId xmlns:a16="http://schemas.microsoft.com/office/drawing/2014/main" val="1908846767"/>
                  </a:ext>
                </a:extLst>
              </a:tr>
              <a:tr h="654679">
                <a:tc>
                  <a:txBody>
                    <a:bodyPr/>
                    <a:lstStyle/>
                    <a:p>
                      <a:r>
                        <a:rPr lang="en-IN" dirty="0" smtClean="0"/>
                        <a:t>3001</a:t>
                      </a:r>
                      <a:endParaRPr lang="en-IN" dirty="0"/>
                    </a:p>
                  </a:txBody>
                  <a:tcPr/>
                </a:tc>
                <a:tc>
                  <a:txBody>
                    <a:bodyPr/>
                    <a:lstStyle/>
                    <a:p>
                      <a:r>
                        <a:rPr lang="en-IN" dirty="0" err="1" smtClean="0"/>
                        <a:t>Sudhir</a:t>
                      </a:r>
                      <a:endParaRPr lang="en-IN" dirty="0"/>
                    </a:p>
                  </a:txBody>
                  <a:tcPr/>
                </a:tc>
                <a:tc>
                  <a:txBody>
                    <a:bodyPr/>
                    <a:lstStyle/>
                    <a:p>
                      <a:r>
                        <a:rPr lang="en-IN" dirty="0" smtClean="0"/>
                        <a:t>Noida</a:t>
                      </a:r>
                      <a:endParaRPr lang="en-IN" dirty="0"/>
                    </a:p>
                  </a:txBody>
                  <a:tcPr/>
                </a:tc>
                <a:tc>
                  <a:txBody>
                    <a:bodyPr/>
                    <a:lstStyle/>
                    <a:p>
                      <a:r>
                        <a:rPr lang="en-IN" dirty="0" smtClean="0"/>
                        <a:t>Home Appliances</a:t>
                      </a:r>
                      <a:endParaRPr lang="en-IN" dirty="0"/>
                    </a:p>
                  </a:txBody>
                  <a:tcPr/>
                </a:tc>
                <a:extLst>
                  <a:ext uri="{0D108BD9-81ED-4DB2-BD59-A6C34878D82A}">
                    <a16:rowId xmlns:a16="http://schemas.microsoft.com/office/drawing/2014/main" val="851433758"/>
                  </a:ext>
                </a:extLst>
              </a:tr>
              <a:tr h="454266">
                <a:tc>
                  <a:txBody>
                    <a:bodyPr/>
                    <a:lstStyle/>
                    <a:p>
                      <a:r>
                        <a:rPr lang="en-IN" dirty="0" smtClean="0"/>
                        <a:t>4019</a:t>
                      </a:r>
                      <a:endParaRPr lang="en-IN" dirty="0"/>
                    </a:p>
                  </a:txBody>
                  <a:tcPr/>
                </a:tc>
                <a:tc>
                  <a:txBody>
                    <a:bodyPr/>
                    <a:lstStyle/>
                    <a:p>
                      <a:r>
                        <a:rPr lang="en-IN" dirty="0" err="1" smtClean="0"/>
                        <a:t>Balwant</a:t>
                      </a:r>
                      <a:endParaRPr lang="en-IN" dirty="0"/>
                    </a:p>
                  </a:txBody>
                  <a:tcPr/>
                </a:tc>
                <a:tc>
                  <a:txBody>
                    <a:bodyPr/>
                    <a:lstStyle/>
                    <a:p>
                      <a:r>
                        <a:rPr lang="en-IN" dirty="0" smtClean="0"/>
                        <a:t>Gurgaon</a:t>
                      </a:r>
                      <a:endParaRPr lang="en-IN" dirty="0"/>
                    </a:p>
                  </a:txBody>
                  <a:tcPr/>
                </a:tc>
                <a:tc>
                  <a:txBody>
                    <a:bodyPr/>
                    <a:lstStyle/>
                    <a:p>
                      <a:r>
                        <a:rPr lang="en-IN" dirty="0" smtClean="0"/>
                        <a:t>Auto parts</a:t>
                      </a:r>
                      <a:endParaRPr lang="en-IN" dirty="0"/>
                    </a:p>
                  </a:txBody>
                  <a:tcPr/>
                </a:tc>
                <a:extLst>
                  <a:ext uri="{0D108BD9-81ED-4DB2-BD59-A6C34878D82A}">
                    <a16:rowId xmlns:a16="http://schemas.microsoft.com/office/drawing/2014/main" val="1778037345"/>
                  </a:ext>
                </a:extLst>
              </a:tr>
              <a:tr h="675808">
                <a:tc>
                  <a:txBody>
                    <a:bodyPr/>
                    <a:lstStyle/>
                    <a:p>
                      <a:r>
                        <a:rPr lang="en-IN" dirty="0" smtClean="0"/>
                        <a:t>6012</a:t>
                      </a:r>
                      <a:endParaRPr lang="en-IN" dirty="0"/>
                    </a:p>
                  </a:txBody>
                  <a:tcPr/>
                </a:tc>
                <a:tc>
                  <a:txBody>
                    <a:bodyPr/>
                    <a:lstStyle/>
                    <a:p>
                      <a:r>
                        <a:rPr lang="en-IN" dirty="0" err="1" smtClean="0"/>
                        <a:t>Anand</a:t>
                      </a:r>
                      <a:endParaRPr lang="en-IN" dirty="0"/>
                    </a:p>
                  </a:txBody>
                  <a:tcPr/>
                </a:tc>
                <a:tc>
                  <a:txBody>
                    <a:bodyPr/>
                    <a:lstStyle/>
                    <a:p>
                      <a:r>
                        <a:rPr lang="en-IN" dirty="0" smtClean="0"/>
                        <a:t>Faridabad</a:t>
                      </a:r>
                      <a:endParaRPr lang="en-IN" dirty="0"/>
                    </a:p>
                  </a:txBody>
                  <a:tcPr/>
                </a:tc>
                <a:tc>
                  <a:txBody>
                    <a:bodyPr/>
                    <a:lstStyle/>
                    <a:p>
                      <a:r>
                        <a:rPr lang="en-IN" dirty="0" smtClean="0"/>
                        <a:t>Men’s Clothing</a:t>
                      </a:r>
                      <a:endParaRPr lang="en-IN" dirty="0"/>
                    </a:p>
                  </a:txBody>
                  <a:tcPr/>
                </a:tc>
                <a:extLst>
                  <a:ext uri="{0D108BD9-81ED-4DB2-BD59-A6C34878D82A}">
                    <a16:rowId xmlns:a16="http://schemas.microsoft.com/office/drawing/2014/main" val="268913241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572876558"/>
              </p:ext>
            </p:extLst>
          </p:nvPr>
        </p:nvGraphicFramePr>
        <p:xfrm>
          <a:off x="5455920" y="1593669"/>
          <a:ext cx="3586257" cy="4591998"/>
        </p:xfrm>
        <a:graphic>
          <a:graphicData uri="http://schemas.openxmlformats.org/drawingml/2006/table">
            <a:tbl>
              <a:tblPr firstRow="1" bandRow="1">
                <a:tableStyleId>{5C22544A-7EE6-4342-B048-85BDC9FD1C3A}</a:tableStyleId>
              </a:tblPr>
              <a:tblGrid>
                <a:gridCol w="1130766">
                  <a:extLst>
                    <a:ext uri="{9D8B030D-6E8A-4147-A177-3AD203B41FA5}">
                      <a16:colId xmlns:a16="http://schemas.microsoft.com/office/drawing/2014/main" val="3687342307"/>
                    </a:ext>
                  </a:extLst>
                </a:gridCol>
                <a:gridCol w="999772">
                  <a:extLst>
                    <a:ext uri="{9D8B030D-6E8A-4147-A177-3AD203B41FA5}">
                      <a16:colId xmlns:a16="http://schemas.microsoft.com/office/drawing/2014/main" val="2063207255"/>
                    </a:ext>
                  </a:extLst>
                </a:gridCol>
                <a:gridCol w="1455719">
                  <a:extLst>
                    <a:ext uri="{9D8B030D-6E8A-4147-A177-3AD203B41FA5}">
                      <a16:colId xmlns:a16="http://schemas.microsoft.com/office/drawing/2014/main" val="2238830171"/>
                    </a:ext>
                  </a:extLst>
                </a:gridCol>
              </a:tblGrid>
              <a:tr h="995710">
                <a:tc>
                  <a:txBody>
                    <a:bodyPr/>
                    <a:lstStyle/>
                    <a:p>
                      <a:r>
                        <a:rPr lang="en-IN" dirty="0" smtClean="0"/>
                        <a:t>* Employee Number</a:t>
                      </a:r>
                      <a:endParaRPr lang="en-IN" dirty="0"/>
                    </a:p>
                  </a:txBody>
                  <a:tcPr/>
                </a:tc>
                <a:tc>
                  <a:txBody>
                    <a:bodyPr/>
                    <a:lstStyle/>
                    <a:p>
                      <a:r>
                        <a:rPr lang="en-IN" dirty="0" smtClean="0"/>
                        <a:t>*</a:t>
                      </a:r>
                    </a:p>
                    <a:p>
                      <a:r>
                        <a:rPr lang="en-IN" dirty="0" smtClean="0"/>
                        <a:t>Item</a:t>
                      </a:r>
                      <a:r>
                        <a:rPr lang="en-IN" baseline="0" dirty="0" smtClean="0"/>
                        <a:t> Number</a:t>
                      </a:r>
                      <a:endParaRPr lang="en-IN" dirty="0"/>
                    </a:p>
                  </a:txBody>
                  <a:tcPr/>
                </a:tc>
                <a:tc>
                  <a:txBody>
                    <a:bodyPr/>
                    <a:lstStyle/>
                    <a:p>
                      <a:endParaRPr lang="en-IN" dirty="0" smtClean="0"/>
                    </a:p>
                    <a:p>
                      <a:r>
                        <a:rPr lang="en-IN" dirty="0" smtClean="0"/>
                        <a:t>Sales Price (</a:t>
                      </a:r>
                      <a:r>
                        <a:rPr lang="en-IN" dirty="0" err="1" smtClean="0"/>
                        <a:t>Rs</a:t>
                      </a:r>
                      <a:r>
                        <a:rPr lang="en-IN" dirty="0" smtClean="0"/>
                        <a:t>)</a:t>
                      </a:r>
                      <a:endParaRPr lang="en-IN" dirty="0"/>
                    </a:p>
                  </a:txBody>
                  <a:tcPr/>
                </a:tc>
                <a:extLst>
                  <a:ext uri="{0D108BD9-81ED-4DB2-BD59-A6C34878D82A}">
                    <a16:rowId xmlns:a16="http://schemas.microsoft.com/office/drawing/2014/main" val="531502099"/>
                  </a:ext>
                </a:extLst>
              </a:tr>
              <a:tr h="403816">
                <a:tc>
                  <a:txBody>
                    <a:bodyPr/>
                    <a:lstStyle/>
                    <a:p>
                      <a:r>
                        <a:rPr lang="en-IN" dirty="0" smtClean="0"/>
                        <a:t>2001</a:t>
                      </a:r>
                      <a:endParaRPr lang="en-IN" dirty="0"/>
                    </a:p>
                  </a:txBody>
                  <a:tcPr/>
                </a:tc>
                <a:tc>
                  <a:txBody>
                    <a:bodyPr/>
                    <a:lstStyle/>
                    <a:p>
                      <a:r>
                        <a:rPr lang="en-IN" dirty="0" smtClean="0"/>
                        <a:t>TR10</a:t>
                      </a:r>
                      <a:endParaRPr lang="en-IN" dirty="0"/>
                    </a:p>
                  </a:txBody>
                  <a:tcPr/>
                </a:tc>
                <a:tc>
                  <a:txBody>
                    <a:bodyPr/>
                    <a:lstStyle/>
                    <a:p>
                      <a:r>
                        <a:rPr lang="en-IN" dirty="0" smtClean="0"/>
                        <a:t>3500</a:t>
                      </a:r>
                      <a:endParaRPr lang="en-IN" dirty="0"/>
                    </a:p>
                  </a:txBody>
                  <a:tcPr/>
                </a:tc>
                <a:extLst>
                  <a:ext uri="{0D108BD9-81ED-4DB2-BD59-A6C34878D82A}">
                    <a16:rowId xmlns:a16="http://schemas.microsoft.com/office/drawing/2014/main" val="3586495390"/>
                  </a:ext>
                </a:extLst>
              </a:tr>
              <a:tr h="403816">
                <a:tc>
                  <a:txBody>
                    <a:bodyPr/>
                    <a:lstStyle/>
                    <a:p>
                      <a:r>
                        <a:rPr lang="en-IN" dirty="0" smtClean="0"/>
                        <a:t>2001</a:t>
                      </a:r>
                      <a:endParaRPr lang="en-IN" dirty="0"/>
                    </a:p>
                  </a:txBody>
                  <a:tcPr/>
                </a:tc>
                <a:tc>
                  <a:txBody>
                    <a:bodyPr/>
                    <a:lstStyle/>
                    <a:p>
                      <a:r>
                        <a:rPr lang="en-IN" dirty="0" smtClean="0"/>
                        <a:t>SA1</a:t>
                      </a:r>
                      <a:endParaRPr lang="en-IN" dirty="0"/>
                    </a:p>
                  </a:txBody>
                  <a:tcPr/>
                </a:tc>
                <a:tc>
                  <a:txBody>
                    <a:bodyPr/>
                    <a:lstStyle/>
                    <a:p>
                      <a:r>
                        <a:rPr lang="en-IN" dirty="0" smtClean="0"/>
                        <a:t>1900</a:t>
                      </a:r>
                      <a:endParaRPr lang="en-IN" dirty="0"/>
                    </a:p>
                  </a:txBody>
                  <a:tcPr/>
                </a:tc>
                <a:extLst>
                  <a:ext uri="{0D108BD9-81ED-4DB2-BD59-A6C34878D82A}">
                    <a16:rowId xmlns:a16="http://schemas.microsoft.com/office/drawing/2014/main" val="865495601"/>
                  </a:ext>
                </a:extLst>
              </a:tr>
              <a:tr h="403816">
                <a:tc>
                  <a:txBody>
                    <a:bodyPr/>
                    <a:lstStyle/>
                    <a:p>
                      <a:r>
                        <a:rPr lang="en-IN" dirty="0" smtClean="0"/>
                        <a:t>2001</a:t>
                      </a:r>
                      <a:endParaRPr lang="en-IN" dirty="0"/>
                    </a:p>
                  </a:txBody>
                  <a:tcPr/>
                </a:tc>
                <a:tc>
                  <a:txBody>
                    <a:bodyPr/>
                    <a:lstStyle/>
                    <a:p>
                      <a:r>
                        <a:rPr lang="en-IN" dirty="0" smtClean="0"/>
                        <a:t>PT6</a:t>
                      </a:r>
                      <a:endParaRPr lang="en-IN" dirty="0"/>
                    </a:p>
                  </a:txBody>
                  <a:tcPr/>
                </a:tc>
                <a:tc>
                  <a:txBody>
                    <a:bodyPr/>
                    <a:lstStyle/>
                    <a:p>
                      <a:r>
                        <a:rPr lang="en-IN" dirty="0" smtClean="0"/>
                        <a:t>2100</a:t>
                      </a:r>
                      <a:endParaRPr lang="en-IN" dirty="0"/>
                    </a:p>
                  </a:txBody>
                  <a:tcPr/>
                </a:tc>
                <a:extLst>
                  <a:ext uri="{0D108BD9-81ED-4DB2-BD59-A6C34878D82A}">
                    <a16:rowId xmlns:a16="http://schemas.microsoft.com/office/drawing/2014/main" val="1821886999"/>
                  </a:ext>
                </a:extLst>
              </a:tr>
              <a:tr h="403816">
                <a:tc>
                  <a:txBody>
                    <a:bodyPr/>
                    <a:lstStyle/>
                    <a:p>
                      <a:r>
                        <a:rPr lang="en-IN" dirty="0" smtClean="0"/>
                        <a:t>2001</a:t>
                      </a:r>
                      <a:endParaRPr lang="en-IN" dirty="0"/>
                    </a:p>
                  </a:txBody>
                  <a:tcPr/>
                </a:tc>
                <a:tc>
                  <a:txBody>
                    <a:bodyPr/>
                    <a:lstStyle/>
                    <a:p>
                      <a:r>
                        <a:rPr lang="en-IN" dirty="0" smtClean="0"/>
                        <a:t>A16</a:t>
                      </a:r>
                      <a:endParaRPr lang="en-IN" dirty="0"/>
                    </a:p>
                  </a:txBody>
                  <a:tcPr/>
                </a:tc>
                <a:tc>
                  <a:txBody>
                    <a:bodyPr/>
                    <a:lstStyle/>
                    <a:p>
                      <a:r>
                        <a:rPr lang="en-IN" dirty="0" smtClean="0"/>
                        <a:t>2450</a:t>
                      </a:r>
                      <a:endParaRPr lang="en-IN" dirty="0"/>
                    </a:p>
                  </a:txBody>
                  <a:tcPr/>
                </a:tc>
                <a:extLst>
                  <a:ext uri="{0D108BD9-81ED-4DB2-BD59-A6C34878D82A}">
                    <a16:rowId xmlns:a16="http://schemas.microsoft.com/office/drawing/2014/main" val="2838306741"/>
                  </a:ext>
                </a:extLst>
              </a:tr>
              <a:tr h="403816">
                <a:tc>
                  <a:txBody>
                    <a:bodyPr/>
                    <a:lstStyle/>
                    <a:p>
                      <a:r>
                        <a:rPr lang="en-IN" dirty="0" smtClean="0"/>
                        <a:t>3001</a:t>
                      </a:r>
                      <a:endParaRPr lang="en-IN" dirty="0"/>
                    </a:p>
                  </a:txBody>
                  <a:tcPr/>
                </a:tc>
                <a:tc>
                  <a:txBody>
                    <a:bodyPr/>
                    <a:lstStyle/>
                    <a:p>
                      <a:r>
                        <a:rPr lang="en-IN" dirty="0" smtClean="0"/>
                        <a:t>TT1</a:t>
                      </a:r>
                      <a:endParaRPr lang="en-IN" dirty="0"/>
                    </a:p>
                  </a:txBody>
                  <a:tcPr/>
                </a:tc>
                <a:tc>
                  <a:txBody>
                    <a:bodyPr/>
                    <a:lstStyle/>
                    <a:p>
                      <a:r>
                        <a:rPr lang="en-IN" dirty="0" smtClean="0"/>
                        <a:t>1140</a:t>
                      </a:r>
                      <a:endParaRPr lang="en-IN" dirty="0"/>
                    </a:p>
                  </a:txBody>
                  <a:tcPr/>
                </a:tc>
                <a:extLst>
                  <a:ext uri="{0D108BD9-81ED-4DB2-BD59-A6C34878D82A}">
                    <a16:rowId xmlns:a16="http://schemas.microsoft.com/office/drawing/2014/main" val="3016539129"/>
                  </a:ext>
                </a:extLst>
              </a:tr>
              <a:tr h="403816">
                <a:tc>
                  <a:txBody>
                    <a:bodyPr/>
                    <a:lstStyle/>
                    <a:p>
                      <a:r>
                        <a:rPr lang="en-IN" dirty="0" smtClean="0"/>
                        <a:t>3001</a:t>
                      </a:r>
                      <a:endParaRPr lang="en-IN" dirty="0"/>
                    </a:p>
                  </a:txBody>
                  <a:tcPr/>
                </a:tc>
                <a:tc>
                  <a:txBody>
                    <a:bodyPr/>
                    <a:lstStyle/>
                    <a:p>
                      <a:r>
                        <a:rPr lang="en-IN" dirty="0" smtClean="0"/>
                        <a:t>DS10</a:t>
                      </a:r>
                      <a:endParaRPr lang="en-IN" dirty="0"/>
                    </a:p>
                  </a:txBody>
                  <a:tcPr/>
                </a:tc>
                <a:tc>
                  <a:txBody>
                    <a:bodyPr/>
                    <a:lstStyle/>
                    <a:p>
                      <a:r>
                        <a:rPr lang="en-IN" dirty="0" smtClean="0"/>
                        <a:t>26200</a:t>
                      </a:r>
                      <a:endParaRPr lang="en-IN" dirty="0"/>
                    </a:p>
                  </a:txBody>
                  <a:tcPr/>
                </a:tc>
                <a:extLst>
                  <a:ext uri="{0D108BD9-81ED-4DB2-BD59-A6C34878D82A}">
                    <a16:rowId xmlns:a16="http://schemas.microsoft.com/office/drawing/2014/main" val="2137307277"/>
                  </a:ext>
                </a:extLst>
              </a:tr>
              <a:tr h="403816">
                <a:tc>
                  <a:txBody>
                    <a:bodyPr/>
                    <a:lstStyle/>
                    <a:p>
                      <a:r>
                        <a:rPr lang="en-IN" dirty="0" smtClean="0"/>
                        <a:t>4019</a:t>
                      </a:r>
                      <a:endParaRPr lang="en-IN" dirty="0"/>
                    </a:p>
                  </a:txBody>
                  <a:tcPr/>
                </a:tc>
                <a:tc>
                  <a:txBody>
                    <a:bodyPr/>
                    <a:lstStyle/>
                    <a:p>
                      <a:r>
                        <a:rPr lang="en-IN" dirty="0" smtClean="0"/>
                        <a:t>C16</a:t>
                      </a:r>
                      <a:endParaRPr lang="en-IN" dirty="0"/>
                    </a:p>
                  </a:txBody>
                  <a:tcPr/>
                </a:tc>
                <a:tc>
                  <a:txBody>
                    <a:bodyPr/>
                    <a:lstStyle/>
                    <a:p>
                      <a:r>
                        <a:rPr lang="en-IN" dirty="0" smtClean="0"/>
                        <a:t>8500</a:t>
                      </a:r>
                      <a:endParaRPr lang="en-IN" dirty="0"/>
                    </a:p>
                  </a:txBody>
                  <a:tcPr/>
                </a:tc>
                <a:extLst>
                  <a:ext uri="{0D108BD9-81ED-4DB2-BD59-A6C34878D82A}">
                    <a16:rowId xmlns:a16="http://schemas.microsoft.com/office/drawing/2014/main" val="1209523818"/>
                  </a:ext>
                </a:extLst>
              </a:tr>
              <a:tr h="403816">
                <a:tc>
                  <a:txBody>
                    <a:bodyPr/>
                    <a:lstStyle/>
                    <a:p>
                      <a:r>
                        <a:rPr lang="en-IN" dirty="0" smtClean="0"/>
                        <a:t>4019</a:t>
                      </a:r>
                      <a:endParaRPr lang="en-IN" dirty="0"/>
                    </a:p>
                  </a:txBody>
                  <a:tcPr/>
                </a:tc>
                <a:tc>
                  <a:txBody>
                    <a:bodyPr/>
                    <a:lstStyle/>
                    <a:p>
                      <a:r>
                        <a:rPr lang="en-IN" dirty="0" smtClean="0"/>
                        <a:t>AT146</a:t>
                      </a:r>
                      <a:endParaRPr lang="en-IN" dirty="0"/>
                    </a:p>
                  </a:txBody>
                  <a:tcPr/>
                </a:tc>
                <a:tc>
                  <a:txBody>
                    <a:bodyPr/>
                    <a:lstStyle/>
                    <a:p>
                      <a:r>
                        <a:rPr lang="en-IN" dirty="0" smtClean="0"/>
                        <a:t>6500</a:t>
                      </a:r>
                      <a:endParaRPr lang="en-IN" dirty="0"/>
                    </a:p>
                  </a:txBody>
                  <a:tcPr/>
                </a:tc>
                <a:extLst>
                  <a:ext uri="{0D108BD9-81ED-4DB2-BD59-A6C34878D82A}">
                    <a16:rowId xmlns:a16="http://schemas.microsoft.com/office/drawing/2014/main" val="3343003520"/>
                  </a:ext>
                </a:extLst>
              </a:tr>
              <a:tr h="355182">
                <a:tc>
                  <a:txBody>
                    <a:bodyPr/>
                    <a:lstStyle/>
                    <a:p>
                      <a:r>
                        <a:rPr lang="en-IN" dirty="0" smtClean="0"/>
                        <a:t>6012</a:t>
                      </a:r>
                      <a:endParaRPr lang="en-IN" dirty="0"/>
                    </a:p>
                  </a:txBody>
                  <a:tcPr/>
                </a:tc>
                <a:tc>
                  <a:txBody>
                    <a:bodyPr/>
                    <a:lstStyle/>
                    <a:p>
                      <a:r>
                        <a:rPr lang="en-IN" dirty="0" smtClean="0"/>
                        <a:t>S10</a:t>
                      </a:r>
                      <a:endParaRPr lang="en-IN" dirty="0"/>
                    </a:p>
                  </a:txBody>
                  <a:tcPr/>
                </a:tc>
                <a:tc>
                  <a:txBody>
                    <a:bodyPr/>
                    <a:lstStyle/>
                    <a:p>
                      <a:r>
                        <a:rPr lang="en-IN" dirty="0" smtClean="0"/>
                        <a:t>2150</a:t>
                      </a:r>
                      <a:endParaRPr lang="en-IN" dirty="0"/>
                    </a:p>
                  </a:txBody>
                  <a:tcPr/>
                </a:tc>
                <a:extLst>
                  <a:ext uri="{0D108BD9-81ED-4DB2-BD59-A6C34878D82A}">
                    <a16:rowId xmlns:a16="http://schemas.microsoft.com/office/drawing/2014/main" val="42307507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81297702"/>
              </p:ext>
            </p:extLst>
          </p:nvPr>
        </p:nvGraphicFramePr>
        <p:xfrm>
          <a:off x="9272954" y="1593669"/>
          <a:ext cx="2429692" cy="4592000"/>
        </p:xfrm>
        <a:graphic>
          <a:graphicData uri="http://schemas.openxmlformats.org/drawingml/2006/table">
            <a:tbl>
              <a:tblPr firstRow="1" bandRow="1">
                <a:tableStyleId>{5C22544A-7EE6-4342-B048-85BDC9FD1C3A}</a:tableStyleId>
              </a:tblPr>
              <a:tblGrid>
                <a:gridCol w="979715">
                  <a:extLst>
                    <a:ext uri="{9D8B030D-6E8A-4147-A177-3AD203B41FA5}">
                      <a16:colId xmlns:a16="http://schemas.microsoft.com/office/drawing/2014/main" val="2159555827"/>
                    </a:ext>
                  </a:extLst>
                </a:gridCol>
                <a:gridCol w="1449977">
                  <a:extLst>
                    <a:ext uri="{9D8B030D-6E8A-4147-A177-3AD203B41FA5}">
                      <a16:colId xmlns:a16="http://schemas.microsoft.com/office/drawing/2014/main" val="2189778"/>
                    </a:ext>
                  </a:extLst>
                </a:gridCol>
              </a:tblGrid>
              <a:tr h="987527">
                <a:tc>
                  <a:txBody>
                    <a:bodyPr/>
                    <a:lstStyle/>
                    <a:p>
                      <a:r>
                        <a:rPr lang="en-IN" dirty="0" smtClean="0"/>
                        <a:t>*</a:t>
                      </a:r>
                    </a:p>
                    <a:p>
                      <a:r>
                        <a:rPr lang="en-IN" dirty="0" smtClean="0"/>
                        <a:t>Item Number</a:t>
                      </a:r>
                      <a:endParaRPr lang="en-IN" dirty="0"/>
                    </a:p>
                  </a:txBody>
                  <a:tcPr/>
                </a:tc>
                <a:tc>
                  <a:txBody>
                    <a:bodyPr/>
                    <a:lstStyle/>
                    <a:p>
                      <a:endParaRPr lang="en-IN" dirty="0" smtClean="0"/>
                    </a:p>
                    <a:p>
                      <a:r>
                        <a:rPr lang="en-IN" dirty="0" smtClean="0"/>
                        <a:t>Item Description</a:t>
                      </a:r>
                      <a:endParaRPr lang="en-IN" dirty="0"/>
                    </a:p>
                  </a:txBody>
                  <a:tcPr/>
                </a:tc>
                <a:extLst>
                  <a:ext uri="{0D108BD9-81ED-4DB2-BD59-A6C34878D82A}">
                    <a16:rowId xmlns:a16="http://schemas.microsoft.com/office/drawing/2014/main" val="653051938"/>
                  </a:ext>
                </a:extLst>
              </a:tr>
              <a:tr h="400497">
                <a:tc>
                  <a:txBody>
                    <a:bodyPr/>
                    <a:lstStyle/>
                    <a:p>
                      <a:r>
                        <a:rPr lang="en-IN" dirty="0" smtClean="0"/>
                        <a:t>TR10</a:t>
                      </a:r>
                      <a:endParaRPr lang="en-IN" dirty="0"/>
                    </a:p>
                  </a:txBody>
                  <a:tcPr/>
                </a:tc>
                <a:tc>
                  <a:txBody>
                    <a:bodyPr/>
                    <a:lstStyle/>
                    <a:p>
                      <a:r>
                        <a:rPr lang="en-IN" dirty="0" smtClean="0"/>
                        <a:t>Router </a:t>
                      </a:r>
                      <a:endParaRPr lang="en-IN" dirty="0"/>
                    </a:p>
                  </a:txBody>
                  <a:tcPr/>
                </a:tc>
                <a:extLst>
                  <a:ext uri="{0D108BD9-81ED-4DB2-BD59-A6C34878D82A}">
                    <a16:rowId xmlns:a16="http://schemas.microsoft.com/office/drawing/2014/main" val="2138780183"/>
                  </a:ext>
                </a:extLst>
              </a:tr>
              <a:tr h="400497">
                <a:tc>
                  <a:txBody>
                    <a:bodyPr/>
                    <a:lstStyle/>
                    <a:p>
                      <a:r>
                        <a:rPr lang="en-IN" dirty="0" smtClean="0"/>
                        <a:t>SA1</a:t>
                      </a:r>
                      <a:endParaRPr lang="en-IN" dirty="0"/>
                    </a:p>
                  </a:txBody>
                  <a:tcPr/>
                </a:tc>
                <a:tc>
                  <a:txBody>
                    <a:bodyPr/>
                    <a:lstStyle/>
                    <a:p>
                      <a:r>
                        <a:rPr lang="en-IN" dirty="0" smtClean="0"/>
                        <a:t>Saw</a:t>
                      </a:r>
                      <a:endParaRPr lang="en-IN" dirty="0"/>
                    </a:p>
                  </a:txBody>
                  <a:tcPr/>
                </a:tc>
                <a:extLst>
                  <a:ext uri="{0D108BD9-81ED-4DB2-BD59-A6C34878D82A}">
                    <a16:rowId xmlns:a16="http://schemas.microsoft.com/office/drawing/2014/main" val="3259368836"/>
                  </a:ext>
                </a:extLst>
              </a:tr>
              <a:tr h="400497">
                <a:tc>
                  <a:txBody>
                    <a:bodyPr/>
                    <a:lstStyle/>
                    <a:p>
                      <a:r>
                        <a:rPr lang="en-IN" dirty="0" smtClean="0"/>
                        <a:t>PT6</a:t>
                      </a:r>
                      <a:endParaRPr lang="en-IN" dirty="0"/>
                    </a:p>
                  </a:txBody>
                  <a:tcPr/>
                </a:tc>
                <a:tc>
                  <a:txBody>
                    <a:bodyPr/>
                    <a:lstStyle/>
                    <a:p>
                      <a:r>
                        <a:rPr lang="en-IN" dirty="0" smtClean="0"/>
                        <a:t>Drill</a:t>
                      </a:r>
                      <a:endParaRPr lang="en-IN" dirty="0"/>
                    </a:p>
                  </a:txBody>
                  <a:tcPr/>
                </a:tc>
                <a:extLst>
                  <a:ext uri="{0D108BD9-81ED-4DB2-BD59-A6C34878D82A}">
                    <a16:rowId xmlns:a16="http://schemas.microsoft.com/office/drawing/2014/main" val="2913891876"/>
                  </a:ext>
                </a:extLst>
              </a:tr>
              <a:tr h="400497">
                <a:tc>
                  <a:txBody>
                    <a:bodyPr/>
                    <a:lstStyle/>
                    <a:p>
                      <a:r>
                        <a:rPr lang="en-IN" dirty="0" smtClean="0"/>
                        <a:t>A16</a:t>
                      </a:r>
                      <a:endParaRPr lang="en-IN" dirty="0"/>
                    </a:p>
                  </a:txBody>
                  <a:tcPr/>
                </a:tc>
                <a:tc>
                  <a:txBody>
                    <a:bodyPr/>
                    <a:lstStyle/>
                    <a:p>
                      <a:r>
                        <a:rPr lang="en-IN" dirty="0" smtClean="0"/>
                        <a:t>Lawn Mover</a:t>
                      </a:r>
                      <a:endParaRPr lang="en-IN" dirty="0"/>
                    </a:p>
                  </a:txBody>
                  <a:tcPr/>
                </a:tc>
                <a:extLst>
                  <a:ext uri="{0D108BD9-81ED-4DB2-BD59-A6C34878D82A}">
                    <a16:rowId xmlns:a16="http://schemas.microsoft.com/office/drawing/2014/main" val="2765321725"/>
                  </a:ext>
                </a:extLst>
              </a:tr>
              <a:tr h="400497">
                <a:tc>
                  <a:txBody>
                    <a:bodyPr/>
                    <a:lstStyle/>
                    <a:p>
                      <a:r>
                        <a:rPr lang="en-IN" dirty="0" smtClean="0"/>
                        <a:t>TT1</a:t>
                      </a:r>
                      <a:endParaRPr lang="en-IN" dirty="0"/>
                    </a:p>
                  </a:txBody>
                  <a:tcPr/>
                </a:tc>
                <a:tc>
                  <a:txBody>
                    <a:bodyPr/>
                    <a:lstStyle/>
                    <a:p>
                      <a:r>
                        <a:rPr lang="en-IN" dirty="0" smtClean="0"/>
                        <a:t>Humidifier</a:t>
                      </a:r>
                      <a:endParaRPr lang="en-IN" dirty="0"/>
                    </a:p>
                  </a:txBody>
                  <a:tcPr/>
                </a:tc>
                <a:extLst>
                  <a:ext uri="{0D108BD9-81ED-4DB2-BD59-A6C34878D82A}">
                    <a16:rowId xmlns:a16="http://schemas.microsoft.com/office/drawing/2014/main" val="2593061769"/>
                  </a:ext>
                </a:extLst>
              </a:tr>
              <a:tr h="400497">
                <a:tc>
                  <a:txBody>
                    <a:bodyPr/>
                    <a:lstStyle/>
                    <a:p>
                      <a:r>
                        <a:rPr lang="en-IN" dirty="0" smtClean="0"/>
                        <a:t>DS10</a:t>
                      </a:r>
                      <a:endParaRPr lang="en-IN" dirty="0"/>
                    </a:p>
                  </a:txBody>
                  <a:tcPr/>
                </a:tc>
                <a:tc>
                  <a:txBody>
                    <a:bodyPr/>
                    <a:lstStyle/>
                    <a:p>
                      <a:r>
                        <a:rPr lang="en-IN" dirty="0" smtClean="0"/>
                        <a:t>Dishwasher</a:t>
                      </a:r>
                      <a:endParaRPr lang="en-IN" dirty="0"/>
                    </a:p>
                  </a:txBody>
                  <a:tcPr/>
                </a:tc>
                <a:extLst>
                  <a:ext uri="{0D108BD9-81ED-4DB2-BD59-A6C34878D82A}">
                    <a16:rowId xmlns:a16="http://schemas.microsoft.com/office/drawing/2014/main" val="138499891"/>
                  </a:ext>
                </a:extLst>
              </a:tr>
              <a:tr h="400497">
                <a:tc>
                  <a:txBody>
                    <a:bodyPr/>
                    <a:lstStyle/>
                    <a:p>
                      <a:r>
                        <a:rPr lang="en-IN" dirty="0" smtClean="0"/>
                        <a:t>C16</a:t>
                      </a:r>
                      <a:endParaRPr lang="en-IN" dirty="0"/>
                    </a:p>
                  </a:txBody>
                  <a:tcPr/>
                </a:tc>
                <a:tc>
                  <a:txBody>
                    <a:bodyPr/>
                    <a:lstStyle/>
                    <a:p>
                      <a:r>
                        <a:rPr lang="en-IN" dirty="0" smtClean="0"/>
                        <a:t>Snow Tire</a:t>
                      </a:r>
                      <a:endParaRPr lang="en-IN" dirty="0"/>
                    </a:p>
                  </a:txBody>
                  <a:tcPr/>
                </a:tc>
                <a:extLst>
                  <a:ext uri="{0D108BD9-81ED-4DB2-BD59-A6C34878D82A}">
                    <a16:rowId xmlns:a16="http://schemas.microsoft.com/office/drawing/2014/main" val="2470585598"/>
                  </a:ext>
                </a:extLst>
              </a:tr>
              <a:tr h="400497">
                <a:tc>
                  <a:txBody>
                    <a:bodyPr/>
                    <a:lstStyle/>
                    <a:p>
                      <a:r>
                        <a:rPr lang="en-IN" dirty="0" smtClean="0"/>
                        <a:t>AT146</a:t>
                      </a:r>
                      <a:endParaRPr lang="en-IN" dirty="0"/>
                    </a:p>
                  </a:txBody>
                  <a:tcPr/>
                </a:tc>
                <a:tc>
                  <a:txBody>
                    <a:bodyPr/>
                    <a:lstStyle/>
                    <a:p>
                      <a:r>
                        <a:rPr lang="en-IN" dirty="0" smtClean="0"/>
                        <a:t>Alternator</a:t>
                      </a:r>
                      <a:endParaRPr lang="en-IN" dirty="0"/>
                    </a:p>
                  </a:txBody>
                  <a:tcPr/>
                </a:tc>
                <a:extLst>
                  <a:ext uri="{0D108BD9-81ED-4DB2-BD59-A6C34878D82A}">
                    <a16:rowId xmlns:a16="http://schemas.microsoft.com/office/drawing/2014/main" val="4241661489"/>
                  </a:ext>
                </a:extLst>
              </a:tr>
              <a:tr h="400497">
                <a:tc>
                  <a:txBody>
                    <a:bodyPr/>
                    <a:lstStyle/>
                    <a:p>
                      <a:r>
                        <a:rPr lang="en-IN" dirty="0" smtClean="0"/>
                        <a:t>S10</a:t>
                      </a:r>
                      <a:endParaRPr lang="en-IN" dirty="0"/>
                    </a:p>
                  </a:txBody>
                  <a:tcPr/>
                </a:tc>
                <a:tc>
                  <a:txBody>
                    <a:bodyPr/>
                    <a:lstStyle/>
                    <a:p>
                      <a:r>
                        <a:rPr lang="en-IN" dirty="0" smtClean="0"/>
                        <a:t>Suit</a:t>
                      </a:r>
                      <a:endParaRPr lang="en-IN" dirty="0"/>
                    </a:p>
                  </a:txBody>
                  <a:tcPr/>
                </a:tc>
                <a:extLst>
                  <a:ext uri="{0D108BD9-81ED-4DB2-BD59-A6C34878D82A}">
                    <a16:rowId xmlns:a16="http://schemas.microsoft.com/office/drawing/2014/main" val="2088072489"/>
                  </a:ext>
                </a:extLst>
              </a:tr>
            </a:tbl>
          </a:graphicData>
        </a:graphic>
      </p:graphicFrame>
      <p:grpSp>
        <p:nvGrpSpPr>
          <p:cNvPr id="25" name="Group 24"/>
          <p:cNvGrpSpPr/>
          <p:nvPr/>
        </p:nvGrpSpPr>
        <p:grpSpPr>
          <a:xfrm>
            <a:off x="838200" y="770706"/>
            <a:ext cx="9742715" cy="5826037"/>
            <a:chOff x="838200" y="770706"/>
            <a:chExt cx="9742715" cy="6087294"/>
          </a:xfrm>
        </p:grpSpPr>
        <p:sp>
          <p:nvSpPr>
            <p:cNvPr id="7" name="TextBox 6"/>
            <p:cNvSpPr txBox="1"/>
            <p:nvPr/>
          </p:nvSpPr>
          <p:spPr>
            <a:xfrm>
              <a:off x="1489165" y="5133699"/>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Data File</a:t>
              </a:r>
              <a:endParaRPr lang="en-IN" dirty="0"/>
            </a:p>
          </p:txBody>
        </p:sp>
        <p:sp>
          <p:nvSpPr>
            <p:cNvPr id="8" name="TextBox 7"/>
            <p:cNvSpPr txBox="1"/>
            <p:nvPr/>
          </p:nvSpPr>
          <p:spPr>
            <a:xfrm>
              <a:off x="6082939" y="6453052"/>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Item File</a:t>
              </a:r>
              <a:endParaRPr lang="en-IN" dirty="0"/>
            </a:p>
          </p:txBody>
        </p:sp>
        <p:sp>
          <p:nvSpPr>
            <p:cNvPr id="9" name="TextBox 8"/>
            <p:cNvSpPr txBox="1"/>
            <p:nvPr/>
          </p:nvSpPr>
          <p:spPr>
            <a:xfrm>
              <a:off x="9272955" y="6453052"/>
              <a:ext cx="1307960"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 Item File</a:t>
              </a:r>
              <a:endParaRPr lang="en-IN" dirty="0"/>
            </a:p>
          </p:txBody>
        </p:sp>
        <p:cxnSp>
          <p:nvCxnSpPr>
            <p:cNvPr id="11" name="Straight Connector 10"/>
            <p:cNvCxnSpPr/>
            <p:nvPr/>
          </p:nvCxnSpPr>
          <p:spPr>
            <a:xfrm>
              <a:off x="838200" y="1214846"/>
              <a:ext cx="0" cy="587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38200" y="1201783"/>
              <a:ext cx="5040086"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891349" y="1214846"/>
              <a:ext cx="13062" cy="378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949440" y="1214846"/>
              <a:ext cx="0" cy="3788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949440" y="1214846"/>
              <a:ext cx="27301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9666514" y="1214846"/>
              <a:ext cx="13063" cy="378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769326" y="770706"/>
              <a:ext cx="300445" cy="369332"/>
            </a:xfrm>
            <a:prstGeom prst="rect">
              <a:avLst/>
            </a:prstGeom>
            <a:noFill/>
          </p:spPr>
          <p:txBody>
            <a:bodyPr wrap="square" rtlCol="0">
              <a:spAutoFit/>
            </a:bodyPr>
            <a:lstStyle/>
            <a:p>
              <a:r>
                <a:rPr lang="en-IN" dirty="0" smtClean="0"/>
                <a:t>1</a:t>
              </a:r>
              <a:endParaRPr lang="en-IN" dirty="0"/>
            </a:p>
          </p:txBody>
        </p:sp>
        <p:sp>
          <p:nvSpPr>
            <p:cNvPr id="23" name="TextBox 22"/>
            <p:cNvSpPr txBox="1"/>
            <p:nvPr/>
          </p:nvSpPr>
          <p:spPr>
            <a:xfrm>
              <a:off x="8014063" y="832451"/>
              <a:ext cx="300445" cy="369332"/>
            </a:xfrm>
            <a:prstGeom prst="rect">
              <a:avLst/>
            </a:prstGeom>
            <a:noFill/>
          </p:spPr>
          <p:txBody>
            <a:bodyPr wrap="square" rtlCol="0">
              <a:spAutoFit/>
            </a:bodyPr>
            <a:lstStyle/>
            <a:p>
              <a:r>
                <a:rPr lang="en-IN" dirty="0" smtClean="0"/>
                <a:t>2</a:t>
              </a:r>
              <a:endParaRPr lang="en-IN" dirty="0"/>
            </a:p>
          </p:txBody>
        </p:sp>
        <p:sp>
          <p:nvSpPr>
            <p:cNvPr id="24" name="TextBox 23"/>
            <p:cNvSpPr txBox="1"/>
            <p:nvPr/>
          </p:nvSpPr>
          <p:spPr>
            <a:xfrm>
              <a:off x="3979817" y="6488668"/>
              <a:ext cx="2116183" cy="369332"/>
            </a:xfrm>
            <a:prstGeom prst="rect">
              <a:avLst/>
            </a:prstGeom>
            <a:noFill/>
          </p:spPr>
          <p:txBody>
            <a:bodyPr wrap="square" rtlCol="0">
              <a:spAutoFit/>
            </a:bodyPr>
            <a:lstStyle/>
            <a:p>
              <a:r>
                <a:rPr lang="en-IN" b="1" dirty="0" smtClean="0"/>
                <a:t>2</a:t>
              </a:r>
              <a:r>
                <a:rPr lang="en-IN" b="1" baseline="30000" dirty="0" smtClean="0"/>
                <a:t>nd</a:t>
              </a:r>
              <a:r>
                <a:rPr lang="en-IN" b="1" dirty="0" smtClean="0"/>
                <a:t> Normalization</a:t>
              </a:r>
              <a:endParaRPr lang="en-IN" b="1" dirty="0"/>
            </a:p>
          </p:txBody>
        </p:sp>
      </p:grpSp>
    </p:spTree>
    <p:extLst>
      <p:ext uri="{BB962C8B-B14F-4D97-AF65-F5344CB8AC3E}">
        <p14:creationId xmlns:p14="http://schemas.microsoft.com/office/powerpoint/2010/main" val="14965288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8"/>
            <a:ext cx="10515600" cy="600892"/>
          </a:xfrm>
        </p:spPr>
        <p:txBody>
          <a:bodyPr>
            <a:normAutofit/>
          </a:bodyPr>
          <a:lstStyle/>
          <a:p>
            <a:r>
              <a:rPr lang="en-IN" sz="3200" b="1" dirty="0" smtClean="0">
                <a:latin typeface="Verdana" panose="020B0604030504040204" pitchFamily="34" charset="0"/>
                <a:ea typeface="Verdana" panose="020B0604030504040204" pitchFamily="34" charset="0"/>
              </a:rPr>
              <a:t>3</a:t>
            </a:r>
            <a:r>
              <a:rPr lang="en-IN" sz="3200" b="1" baseline="30000" dirty="0" smtClean="0">
                <a:latin typeface="Verdana" panose="020B0604030504040204" pitchFamily="34" charset="0"/>
                <a:ea typeface="Verdana" panose="020B0604030504040204" pitchFamily="34" charset="0"/>
              </a:rPr>
              <a:t>rd</a:t>
            </a:r>
            <a:r>
              <a:rPr lang="en-IN" sz="3200" b="1" dirty="0" smtClean="0">
                <a:latin typeface="Verdana" panose="020B0604030504040204" pitchFamily="34" charset="0"/>
                <a:ea typeface="Verdana" panose="020B0604030504040204" pitchFamily="34" charset="0"/>
              </a:rPr>
              <a:t> Normal Form (3NF)</a:t>
            </a:r>
            <a:endParaRPr lang="en-IN" sz="3200" b="1"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200" y="888274"/>
            <a:ext cx="10515600" cy="5865223"/>
          </a:xfrm>
        </p:spPr>
        <p:txBody>
          <a:bodyPr/>
          <a:lstStyle/>
          <a:p>
            <a:pPr algn="just"/>
            <a:r>
              <a:rPr lang="en-IN" dirty="0" smtClean="0"/>
              <a:t>A table is said to be in third normal form, if all the non-key fields of the table are independent of all the other non-key fields of the same field.</a:t>
            </a:r>
          </a:p>
          <a:p>
            <a:pPr algn="just"/>
            <a:r>
              <a:rPr lang="en-IN" dirty="0" smtClean="0"/>
              <a:t> Looking at the second normalization, we find further room for improvement. In “Salesman Data File”, the attribute “Branch Name” is tagged to the primary key “Employee Number”, while the attribute “Department” is related to “Branch Name”, which is a non-key attribute. Making “Branch Name”, as a key attribute requires isolating “Department” along with “Branch Name” in a new relation as shown in next page-</a:t>
            </a:r>
          </a:p>
          <a:p>
            <a:pPr algn="just"/>
            <a:endParaRPr lang="en-IN" dirty="0"/>
          </a:p>
        </p:txBody>
      </p:sp>
    </p:spTree>
    <p:extLst>
      <p:ext uri="{BB962C8B-B14F-4D97-AF65-F5344CB8AC3E}">
        <p14:creationId xmlns:p14="http://schemas.microsoft.com/office/powerpoint/2010/main" val="21948816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
            <a:ext cx="10515600" cy="438999"/>
          </a:xfrm>
        </p:spPr>
        <p:txBody>
          <a:bodyPr>
            <a:normAutofit fontScale="90000"/>
          </a:bodyPr>
          <a:lstStyle/>
          <a:p>
            <a:r>
              <a:rPr lang="en-IN" sz="2800" b="1" dirty="0">
                <a:latin typeface="Verdana" panose="020B0604030504040204" pitchFamily="34" charset="0"/>
                <a:ea typeface="Verdana" panose="020B0604030504040204" pitchFamily="34" charset="0"/>
              </a:rPr>
              <a:t>3</a:t>
            </a:r>
            <a:r>
              <a:rPr lang="en-IN" sz="2800" b="1" baseline="30000" dirty="0">
                <a:latin typeface="Verdana" panose="020B0604030504040204" pitchFamily="34" charset="0"/>
                <a:ea typeface="Verdana" panose="020B0604030504040204" pitchFamily="34" charset="0"/>
              </a:rPr>
              <a:t>rd</a:t>
            </a:r>
            <a:r>
              <a:rPr lang="en-IN" sz="2800" b="1" dirty="0">
                <a:latin typeface="Verdana" panose="020B0604030504040204" pitchFamily="34" charset="0"/>
                <a:ea typeface="Verdana" panose="020B0604030504040204" pitchFamily="34" charset="0"/>
              </a:rPr>
              <a:t> Normal Form (3NF</a:t>
            </a:r>
            <a:r>
              <a:rPr lang="en-IN" sz="2800" b="1" dirty="0" smtClean="0">
                <a:latin typeface="Verdana" panose="020B0604030504040204" pitchFamily="34" charset="0"/>
                <a:ea typeface="Verdana" panose="020B0604030504040204" pitchFamily="34" charset="0"/>
              </a:rPr>
              <a:t>) contd.</a:t>
            </a:r>
            <a:endParaRPr lang="en-IN" sz="2800" dirty="0"/>
          </a:p>
        </p:txBody>
      </p:sp>
      <p:graphicFrame>
        <p:nvGraphicFramePr>
          <p:cNvPr id="5" name="Table 4"/>
          <p:cNvGraphicFramePr>
            <a:graphicFrameLocks noGrp="1"/>
          </p:cNvGraphicFramePr>
          <p:nvPr>
            <p:extLst>
              <p:ext uri="{D42A27DB-BD31-4B8C-83A1-F6EECF244321}">
                <p14:modId xmlns:p14="http://schemas.microsoft.com/office/powerpoint/2010/main" val="2973987867"/>
              </p:ext>
            </p:extLst>
          </p:nvPr>
        </p:nvGraphicFramePr>
        <p:xfrm>
          <a:off x="103050" y="1641565"/>
          <a:ext cx="3214915" cy="3174273"/>
        </p:xfrm>
        <a:graphic>
          <a:graphicData uri="http://schemas.openxmlformats.org/drawingml/2006/table">
            <a:tbl>
              <a:tblPr firstRow="1" bandRow="1">
                <a:tableStyleId>{5C22544A-7EE6-4342-B048-85BDC9FD1C3A}</a:tableStyleId>
              </a:tblPr>
              <a:tblGrid>
                <a:gridCol w="1106007">
                  <a:extLst>
                    <a:ext uri="{9D8B030D-6E8A-4147-A177-3AD203B41FA5}">
                      <a16:colId xmlns:a16="http://schemas.microsoft.com/office/drawing/2014/main" val="838991112"/>
                    </a:ext>
                  </a:extLst>
                </a:gridCol>
                <a:gridCol w="1072530">
                  <a:extLst>
                    <a:ext uri="{9D8B030D-6E8A-4147-A177-3AD203B41FA5}">
                      <a16:colId xmlns:a16="http://schemas.microsoft.com/office/drawing/2014/main" val="521209123"/>
                    </a:ext>
                  </a:extLst>
                </a:gridCol>
                <a:gridCol w="1036378">
                  <a:extLst>
                    <a:ext uri="{9D8B030D-6E8A-4147-A177-3AD203B41FA5}">
                      <a16:colId xmlns:a16="http://schemas.microsoft.com/office/drawing/2014/main" val="1944496154"/>
                    </a:ext>
                  </a:extLst>
                </a:gridCol>
              </a:tblGrid>
              <a:tr h="935254">
                <a:tc>
                  <a:txBody>
                    <a:bodyPr/>
                    <a:lstStyle/>
                    <a:p>
                      <a:r>
                        <a:rPr lang="en-IN" sz="1200" dirty="0" smtClean="0">
                          <a:latin typeface="Verdana" panose="020B0604030504040204" pitchFamily="34" charset="0"/>
                          <a:ea typeface="Verdana" panose="020B0604030504040204" pitchFamily="34" charset="0"/>
                        </a:rPr>
                        <a:t>* </a:t>
                      </a:r>
                    </a:p>
                    <a:p>
                      <a:r>
                        <a:rPr lang="en-IN" sz="1200" dirty="0" smtClean="0">
                          <a:latin typeface="Verdana" panose="020B0604030504040204" pitchFamily="34" charset="0"/>
                          <a:ea typeface="Verdana" panose="020B0604030504040204" pitchFamily="34" charset="0"/>
                        </a:rPr>
                        <a:t>Employee       Number</a:t>
                      </a:r>
                      <a:endParaRPr lang="en-IN" sz="1200" dirty="0">
                        <a:latin typeface="Verdana" panose="020B0604030504040204" pitchFamily="34" charset="0"/>
                        <a:ea typeface="Verdana" panose="020B0604030504040204" pitchFamily="34" charset="0"/>
                      </a:endParaRPr>
                    </a:p>
                  </a:txBody>
                  <a:tcPr/>
                </a:tc>
                <a:tc>
                  <a:txBody>
                    <a:bodyPr/>
                    <a:lstStyle/>
                    <a:p>
                      <a:endParaRPr lang="en-IN" sz="1200" dirty="0" smtClean="0">
                        <a:latin typeface="Verdana" panose="020B0604030504040204" pitchFamily="34" charset="0"/>
                        <a:ea typeface="Verdana" panose="020B0604030504040204" pitchFamily="34" charset="0"/>
                      </a:endParaRPr>
                    </a:p>
                    <a:p>
                      <a:r>
                        <a:rPr lang="en-IN" sz="1200" dirty="0" smtClean="0">
                          <a:latin typeface="Verdana" panose="020B0604030504040204" pitchFamily="34" charset="0"/>
                          <a:ea typeface="Verdana" panose="020B0604030504040204" pitchFamily="34" charset="0"/>
                        </a:rPr>
                        <a:t>Employee Name</a:t>
                      </a:r>
                      <a:endParaRPr lang="en-IN" sz="1200" dirty="0">
                        <a:latin typeface="Verdana" panose="020B0604030504040204" pitchFamily="34" charset="0"/>
                        <a:ea typeface="Verdana" panose="020B0604030504040204" pitchFamily="34" charset="0"/>
                      </a:endParaRPr>
                    </a:p>
                  </a:txBody>
                  <a:tcPr/>
                </a:tc>
                <a:tc>
                  <a:txBody>
                    <a:bodyPr/>
                    <a:lstStyle/>
                    <a:p>
                      <a:endParaRPr lang="en-IN" sz="1200" dirty="0" smtClean="0">
                        <a:latin typeface="Verdana" panose="020B0604030504040204" pitchFamily="34" charset="0"/>
                        <a:ea typeface="Verdana" panose="020B0604030504040204" pitchFamily="34" charset="0"/>
                      </a:endParaRPr>
                    </a:p>
                    <a:p>
                      <a:r>
                        <a:rPr lang="en-IN" sz="1200" dirty="0" smtClean="0">
                          <a:latin typeface="Verdana" panose="020B0604030504040204" pitchFamily="34" charset="0"/>
                          <a:ea typeface="Verdana" panose="020B0604030504040204" pitchFamily="34" charset="0"/>
                        </a:rPr>
                        <a:t>Branch Name</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517507065"/>
                  </a:ext>
                </a:extLst>
              </a:tr>
              <a:tr h="454266">
                <a:tc>
                  <a:txBody>
                    <a:bodyPr/>
                    <a:lstStyle/>
                    <a:p>
                      <a:r>
                        <a:rPr lang="en-IN" sz="1200" dirty="0" smtClean="0">
                          <a:latin typeface="Verdana" panose="020B0604030504040204" pitchFamily="34" charset="0"/>
                          <a:ea typeface="Verdana" panose="020B0604030504040204" pitchFamily="34" charset="0"/>
                        </a:rPr>
                        <a:t>2001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err="1" smtClean="0">
                          <a:latin typeface="Verdana" panose="020B0604030504040204" pitchFamily="34" charset="0"/>
                          <a:ea typeface="Verdana" panose="020B0604030504040204" pitchFamily="34" charset="0"/>
                        </a:rPr>
                        <a:t>Rajan</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Delhi</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908846767"/>
                  </a:ext>
                </a:extLst>
              </a:tr>
              <a:tr h="654679">
                <a:tc>
                  <a:txBody>
                    <a:bodyPr/>
                    <a:lstStyle/>
                    <a:p>
                      <a:r>
                        <a:rPr lang="en-IN" sz="1200" dirty="0" smtClean="0">
                          <a:latin typeface="Verdana" panose="020B0604030504040204" pitchFamily="34" charset="0"/>
                          <a:ea typeface="Verdana" panose="020B0604030504040204" pitchFamily="34" charset="0"/>
                        </a:rPr>
                        <a:t>3001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err="1" smtClean="0">
                          <a:latin typeface="Verdana" panose="020B0604030504040204" pitchFamily="34" charset="0"/>
                          <a:ea typeface="Verdana" panose="020B0604030504040204" pitchFamily="34" charset="0"/>
                        </a:rPr>
                        <a:t>Sudhir</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Noida</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851433758"/>
                  </a:ext>
                </a:extLst>
              </a:tr>
              <a:tr h="454266">
                <a:tc>
                  <a:txBody>
                    <a:bodyPr/>
                    <a:lstStyle/>
                    <a:p>
                      <a:r>
                        <a:rPr lang="en-IN" sz="1200" dirty="0" smtClean="0">
                          <a:latin typeface="Verdana" panose="020B0604030504040204" pitchFamily="34" charset="0"/>
                          <a:ea typeface="Verdana" panose="020B0604030504040204" pitchFamily="34" charset="0"/>
                        </a:rPr>
                        <a:t>4019</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err="1" smtClean="0">
                          <a:latin typeface="Verdana" panose="020B0604030504040204" pitchFamily="34" charset="0"/>
                          <a:ea typeface="Verdana" panose="020B0604030504040204" pitchFamily="34" charset="0"/>
                        </a:rPr>
                        <a:t>Balwant</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Gurgaon</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778037345"/>
                  </a:ext>
                </a:extLst>
              </a:tr>
              <a:tr h="675808">
                <a:tc>
                  <a:txBody>
                    <a:bodyPr/>
                    <a:lstStyle/>
                    <a:p>
                      <a:r>
                        <a:rPr lang="en-IN" sz="1200" dirty="0" smtClean="0">
                          <a:latin typeface="Verdana" panose="020B0604030504040204" pitchFamily="34" charset="0"/>
                          <a:ea typeface="Verdana" panose="020B0604030504040204" pitchFamily="34" charset="0"/>
                        </a:rPr>
                        <a:t>6012</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err="1" smtClean="0">
                          <a:latin typeface="Verdana" panose="020B0604030504040204" pitchFamily="34" charset="0"/>
                          <a:ea typeface="Verdana" panose="020B0604030504040204" pitchFamily="34" charset="0"/>
                        </a:rPr>
                        <a:t>Anand</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Faridabad</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68913241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89602563"/>
              </p:ext>
            </p:extLst>
          </p:nvPr>
        </p:nvGraphicFramePr>
        <p:xfrm>
          <a:off x="3589857" y="2137954"/>
          <a:ext cx="2234251" cy="3174273"/>
        </p:xfrm>
        <a:graphic>
          <a:graphicData uri="http://schemas.openxmlformats.org/drawingml/2006/table">
            <a:tbl>
              <a:tblPr firstRow="1" bandRow="1">
                <a:tableStyleId>{5C22544A-7EE6-4342-B048-85BDC9FD1C3A}</a:tableStyleId>
              </a:tblPr>
              <a:tblGrid>
                <a:gridCol w="980335">
                  <a:extLst>
                    <a:ext uri="{9D8B030D-6E8A-4147-A177-3AD203B41FA5}">
                      <a16:colId xmlns:a16="http://schemas.microsoft.com/office/drawing/2014/main" val="1944496154"/>
                    </a:ext>
                  </a:extLst>
                </a:gridCol>
                <a:gridCol w="1253916">
                  <a:extLst>
                    <a:ext uri="{9D8B030D-6E8A-4147-A177-3AD203B41FA5}">
                      <a16:colId xmlns:a16="http://schemas.microsoft.com/office/drawing/2014/main" val="1844354755"/>
                    </a:ext>
                  </a:extLst>
                </a:gridCol>
              </a:tblGrid>
              <a:tr h="935254">
                <a:tc>
                  <a:txBody>
                    <a:bodyPr/>
                    <a:lstStyle/>
                    <a:p>
                      <a:r>
                        <a:rPr lang="en-IN" sz="1200" dirty="0" smtClean="0">
                          <a:latin typeface="Verdana" panose="020B0604030504040204" pitchFamily="34" charset="0"/>
                          <a:ea typeface="Verdana" panose="020B0604030504040204" pitchFamily="34" charset="0"/>
                        </a:rPr>
                        <a:t>*</a:t>
                      </a:r>
                    </a:p>
                    <a:p>
                      <a:r>
                        <a:rPr lang="en-IN" sz="1200" dirty="0" smtClean="0">
                          <a:latin typeface="Verdana" panose="020B0604030504040204" pitchFamily="34" charset="0"/>
                          <a:ea typeface="Verdana" panose="020B0604030504040204" pitchFamily="34" charset="0"/>
                        </a:rPr>
                        <a:t>Branch Name</a:t>
                      </a:r>
                      <a:endParaRPr lang="en-IN" sz="1200" dirty="0">
                        <a:latin typeface="Verdana" panose="020B0604030504040204" pitchFamily="34" charset="0"/>
                        <a:ea typeface="Verdana" panose="020B0604030504040204" pitchFamily="34" charset="0"/>
                      </a:endParaRPr>
                    </a:p>
                  </a:txBody>
                  <a:tcPr/>
                </a:tc>
                <a:tc>
                  <a:txBody>
                    <a:bodyPr/>
                    <a:lstStyle/>
                    <a:p>
                      <a:endParaRPr lang="en-IN" sz="1200" dirty="0" smtClean="0">
                        <a:latin typeface="Verdana" panose="020B0604030504040204" pitchFamily="34" charset="0"/>
                        <a:ea typeface="Verdana" panose="020B0604030504040204" pitchFamily="34" charset="0"/>
                      </a:endParaRPr>
                    </a:p>
                    <a:p>
                      <a:r>
                        <a:rPr lang="en-IN" sz="1200" dirty="0" smtClean="0">
                          <a:latin typeface="Verdana" panose="020B0604030504040204" pitchFamily="34" charset="0"/>
                          <a:ea typeface="Verdana" panose="020B0604030504040204" pitchFamily="34" charset="0"/>
                        </a:rPr>
                        <a:t>Department</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517507065"/>
                  </a:ext>
                </a:extLst>
              </a:tr>
              <a:tr h="454266">
                <a:tc>
                  <a:txBody>
                    <a:bodyPr/>
                    <a:lstStyle/>
                    <a:p>
                      <a:r>
                        <a:rPr lang="en-IN" sz="1200" dirty="0" smtClean="0">
                          <a:latin typeface="Verdana" panose="020B0604030504040204" pitchFamily="34" charset="0"/>
                          <a:ea typeface="Verdana" panose="020B0604030504040204" pitchFamily="34" charset="0"/>
                        </a:rPr>
                        <a:t>Delhi</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Hardware</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908846767"/>
                  </a:ext>
                </a:extLst>
              </a:tr>
              <a:tr h="654679">
                <a:tc>
                  <a:txBody>
                    <a:bodyPr/>
                    <a:lstStyle/>
                    <a:p>
                      <a:r>
                        <a:rPr lang="en-IN" sz="1200" dirty="0" smtClean="0">
                          <a:latin typeface="Verdana" panose="020B0604030504040204" pitchFamily="34" charset="0"/>
                          <a:ea typeface="Verdana" panose="020B0604030504040204" pitchFamily="34" charset="0"/>
                        </a:rPr>
                        <a:t>Noida</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Home Appliances</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851433758"/>
                  </a:ext>
                </a:extLst>
              </a:tr>
              <a:tr h="454266">
                <a:tc>
                  <a:txBody>
                    <a:bodyPr/>
                    <a:lstStyle/>
                    <a:p>
                      <a:r>
                        <a:rPr lang="en-IN" sz="1200" dirty="0" smtClean="0">
                          <a:latin typeface="Verdana" panose="020B0604030504040204" pitchFamily="34" charset="0"/>
                          <a:ea typeface="Verdana" panose="020B0604030504040204" pitchFamily="34" charset="0"/>
                        </a:rPr>
                        <a:t>Gurgaon</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Auto parts</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778037345"/>
                  </a:ext>
                </a:extLst>
              </a:tr>
              <a:tr h="675808">
                <a:tc>
                  <a:txBody>
                    <a:bodyPr/>
                    <a:lstStyle/>
                    <a:p>
                      <a:r>
                        <a:rPr lang="en-IN" sz="1200" dirty="0" smtClean="0">
                          <a:latin typeface="Verdana" panose="020B0604030504040204" pitchFamily="34" charset="0"/>
                          <a:ea typeface="Verdana" panose="020B0604030504040204" pitchFamily="34" charset="0"/>
                        </a:rPr>
                        <a:t>Faridabad</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Men’s Clothing</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68913241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03977831"/>
              </p:ext>
            </p:extLst>
          </p:nvPr>
        </p:nvGraphicFramePr>
        <p:xfrm>
          <a:off x="6096001" y="1641567"/>
          <a:ext cx="3296192" cy="4581420"/>
        </p:xfrm>
        <a:graphic>
          <a:graphicData uri="http://schemas.openxmlformats.org/drawingml/2006/table">
            <a:tbl>
              <a:tblPr firstRow="1" bandRow="1">
                <a:tableStyleId>{5C22544A-7EE6-4342-B048-85BDC9FD1C3A}</a:tableStyleId>
              </a:tblPr>
              <a:tblGrid>
                <a:gridCol w="1039306">
                  <a:extLst>
                    <a:ext uri="{9D8B030D-6E8A-4147-A177-3AD203B41FA5}">
                      <a16:colId xmlns:a16="http://schemas.microsoft.com/office/drawing/2014/main" val="3687342307"/>
                    </a:ext>
                  </a:extLst>
                </a:gridCol>
                <a:gridCol w="918908">
                  <a:extLst>
                    <a:ext uri="{9D8B030D-6E8A-4147-A177-3AD203B41FA5}">
                      <a16:colId xmlns:a16="http://schemas.microsoft.com/office/drawing/2014/main" val="2063207255"/>
                    </a:ext>
                  </a:extLst>
                </a:gridCol>
                <a:gridCol w="1337978">
                  <a:extLst>
                    <a:ext uri="{9D8B030D-6E8A-4147-A177-3AD203B41FA5}">
                      <a16:colId xmlns:a16="http://schemas.microsoft.com/office/drawing/2014/main" val="2238830171"/>
                    </a:ext>
                  </a:extLst>
                </a:gridCol>
              </a:tblGrid>
              <a:tr h="995710">
                <a:tc>
                  <a:txBody>
                    <a:bodyPr/>
                    <a:lstStyle/>
                    <a:p>
                      <a:r>
                        <a:rPr lang="en-IN" sz="1200" dirty="0" smtClean="0">
                          <a:latin typeface="Verdana" panose="020B0604030504040204" pitchFamily="34" charset="0"/>
                          <a:ea typeface="Verdana" panose="020B0604030504040204" pitchFamily="34" charset="0"/>
                        </a:rPr>
                        <a:t>* Employee Number</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a:t>
                      </a:r>
                    </a:p>
                    <a:p>
                      <a:r>
                        <a:rPr lang="en-IN" sz="1200" dirty="0" smtClean="0">
                          <a:latin typeface="Verdana" panose="020B0604030504040204" pitchFamily="34" charset="0"/>
                          <a:ea typeface="Verdana" panose="020B0604030504040204" pitchFamily="34" charset="0"/>
                        </a:rPr>
                        <a:t>Item</a:t>
                      </a:r>
                      <a:r>
                        <a:rPr lang="en-IN" sz="1200" baseline="0" dirty="0" smtClean="0">
                          <a:latin typeface="Verdana" panose="020B0604030504040204" pitchFamily="34" charset="0"/>
                          <a:ea typeface="Verdana" panose="020B0604030504040204" pitchFamily="34" charset="0"/>
                        </a:rPr>
                        <a:t> Number</a:t>
                      </a:r>
                      <a:endParaRPr lang="en-IN" sz="1200" dirty="0">
                        <a:latin typeface="Verdana" panose="020B0604030504040204" pitchFamily="34" charset="0"/>
                        <a:ea typeface="Verdana" panose="020B0604030504040204" pitchFamily="34" charset="0"/>
                      </a:endParaRPr>
                    </a:p>
                  </a:txBody>
                  <a:tcPr/>
                </a:tc>
                <a:tc>
                  <a:txBody>
                    <a:bodyPr/>
                    <a:lstStyle/>
                    <a:p>
                      <a:endParaRPr lang="en-IN" sz="1200" dirty="0" smtClean="0">
                        <a:latin typeface="Verdana" panose="020B0604030504040204" pitchFamily="34" charset="0"/>
                        <a:ea typeface="Verdana" panose="020B0604030504040204" pitchFamily="34" charset="0"/>
                      </a:endParaRPr>
                    </a:p>
                    <a:p>
                      <a:r>
                        <a:rPr lang="en-IN" sz="1200" dirty="0" smtClean="0">
                          <a:latin typeface="Verdana" panose="020B0604030504040204" pitchFamily="34" charset="0"/>
                          <a:ea typeface="Verdana" panose="020B0604030504040204" pitchFamily="34" charset="0"/>
                        </a:rPr>
                        <a:t>Sales Price (</a:t>
                      </a:r>
                      <a:r>
                        <a:rPr lang="en-IN" sz="1200" dirty="0" err="1" smtClean="0">
                          <a:latin typeface="Verdana" panose="020B0604030504040204" pitchFamily="34" charset="0"/>
                          <a:ea typeface="Verdana" panose="020B0604030504040204" pitchFamily="34" charset="0"/>
                        </a:rPr>
                        <a:t>Rs</a:t>
                      </a:r>
                      <a:r>
                        <a:rPr lang="en-IN" sz="1200" dirty="0" smtClean="0">
                          <a:latin typeface="Verdana" panose="020B0604030504040204" pitchFamily="34" charset="0"/>
                          <a:ea typeface="Verdana" panose="020B0604030504040204" pitchFamily="34" charset="0"/>
                        </a:rPr>
                        <a:t>)</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531502099"/>
                  </a:ext>
                </a:extLst>
              </a:tr>
              <a:tr h="403816">
                <a:tc>
                  <a:txBody>
                    <a:bodyPr/>
                    <a:lstStyle/>
                    <a:p>
                      <a:r>
                        <a:rPr lang="en-IN" sz="1200" dirty="0" smtClean="0">
                          <a:latin typeface="Verdana" panose="020B0604030504040204" pitchFamily="34" charset="0"/>
                          <a:ea typeface="Verdana" panose="020B0604030504040204" pitchFamily="34" charset="0"/>
                        </a:rPr>
                        <a:t>2001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TR10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3500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586495390"/>
                  </a:ext>
                </a:extLst>
              </a:tr>
              <a:tr h="403816">
                <a:tc>
                  <a:txBody>
                    <a:bodyPr/>
                    <a:lstStyle/>
                    <a:p>
                      <a:r>
                        <a:rPr lang="en-IN" sz="1200" dirty="0" smtClean="0">
                          <a:latin typeface="Verdana" panose="020B0604030504040204" pitchFamily="34" charset="0"/>
                          <a:ea typeface="Verdana" panose="020B0604030504040204" pitchFamily="34" charset="0"/>
                        </a:rPr>
                        <a:t>2001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SA1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1900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865495601"/>
                  </a:ext>
                </a:extLst>
              </a:tr>
              <a:tr h="403816">
                <a:tc>
                  <a:txBody>
                    <a:bodyPr/>
                    <a:lstStyle/>
                    <a:p>
                      <a:r>
                        <a:rPr lang="en-IN" sz="1200" dirty="0" smtClean="0">
                          <a:latin typeface="Verdana" panose="020B0604030504040204" pitchFamily="34" charset="0"/>
                          <a:ea typeface="Verdana" panose="020B0604030504040204" pitchFamily="34" charset="0"/>
                        </a:rPr>
                        <a:t>2001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PT6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2100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821886999"/>
                  </a:ext>
                </a:extLst>
              </a:tr>
              <a:tr h="403816">
                <a:tc>
                  <a:txBody>
                    <a:bodyPr/>
                    <a:lstStyle/>
                    <a:p>
                      <a:r>
                        <a:rPr lang="en-IN" sz="1200" dirty="0" smtClean="0">
                          <a:latin typeface="Verdana" panose="020B0604030504040204" pitchFamily="34" charset="0"/>
                          <a:ea typeface="Verdana" panose="020B0604030504040204" pitchFamily="34" charset="0"/>
                        </a:rPr>
                        <a:t>2001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A16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2450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838306741"/>
                  </a:ext>
                </a:extLst>
              </a:tr>
              <a:tr h="403816">
                <a:tc>
                  <a:txBody>
                    <a:bodyPr/>
                    <a:lstStyle/>
                    <a:p>
                      <a:r>
                        <a:rPr lang="en-IN" sz="1200" dirty="0" smtClean="0">
                          <a:latin typeface="Verdana" panose="020B0604030504040204" pitchFamily="34" charset="0"/>
                          <a:ea typeface="Verdana" panose="020B0604030504040204" pitchFamily="34" charset="0"/>
                        </a:rPr>
                        <a:t>3001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TT1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1140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016539129"/>
                  </a:ext>
                </a:extLst>
              </a:tr>
              <a:tr h="403816">
                <a:tc>
                  <a:txBody>
                    <a:bodyPr/>
                    <a:lstStyle/>
                    <a:p>
                      <a:r>
                        <a:rPr lang="en-IN" sz="1200" dirty="0" smtClean="0">
                          <a:latin typeface="Verdana" panose="020B0604030504040204" pitchFamily="34" charset="0"/>
                          <a:ea typeface="Verdana" panose="020B0604030504040204" pitchFamily="34" charset="0"/>
                        </a:rPr>
                        <a:t>3001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DS10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26200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137307277"/>
                  </a:ext>
                </a:extLst>
              </a:tr>
              <a:tr h="403816">
                <a:tc>
                  <a:txBody>
                    <a:bodyPr/>
                    <a:lstStyle/>
                    <a:p>
                      <a:r>
                        <a:rPr lang="en-IN" sz="1200" dirty="0" smtClean="0">
                          <a:latin typeface="Verdana" panose="020B0604030504040204" pitchFamily="34" charset="0"/>
                          <a:ea typeface="Verdana" panose="020B0604030504040204" pitchFamily="34" charset="0"/>
                        </a:rPr>
                        <a:t>4019</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C16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8500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209523818"/>
                  </a:ext>
                </a:extLst>
              </a:tr>
              <a:tr h="403816">
                <a:tc>
                  <a:txBody>
                    <a:bodyPr/>
                    <a:lstStyle/>
                    <a:p>
                      <a:r>
                        <a:rPr lang="en-IN" sz="1200" dirty="0" smtClean="0">
                          <a:latin typeface="Verdana" panose="020B0604030504040204" pitchFamily="34" charset="0"/>
                          <a:ea typeface="Verdana" panose="020B0604030504040204" pitchFamily="34" charset="0"/>
                        </a:rPr>
                        <a:t>4019</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AT146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6500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343003520"/>
                  </a:ext>
                </a:extLst>
              </a:tr>
              <a:tr h="355182">
                <a:tc>
                  <a:txBody>
                    <a:bodyPr/>
                    <a:lstStyle/>
                    <a:p>
                      <a:r>
                        <a:rPr lang="en-IN" sz="1200" dirty="0" smtClean="0">
                          <a:latin typeface="Verdana" panose="020B0604030504040204" pitchFamily="34" charset="0"/>
                          <a:ea typeface="Verdana" panose="020B0604030504040204" pitchFamily="34" charset="0"/>
                        </a:rPr>
                        <a:t>6012</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S10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2150</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42307507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59652928"/>
              </p:ext>
            </p:extLst>
          </p:nvPr>
        </p:nvGraphicFramePr>
        <p:xfrm>
          <a:off x="9744891" y="1641565"/>
          <a:ext cx="2383973" cy="4592000"/>
        </p:xfrm>
        <a:graphic>
          <a:graphicData uri="http://schemas.openxmlformats.org/drawingml/2006/table">
            <a:tbl>
              <a:tblPr firstRow="1" bandRow="1">
                <a:tableStyleId>{5C22544A-7EE6-4342-B048-85BDC9FD1C3A}</a:tableStyleId>
              </a:tblPr>
              <a:tblGrid>
                <a:gridCol w="933996">
                  <a:extLst>
                    <a:ext uri="{9D8B030D-6E8A-4147-A177-3AD203B41FA5}">
                      <a16:colId xmlns:a16="http://schemas.microsoft.com/office/drawing/2014/main" val="2159555827"/>
                    </a:ext>
                  </a:extLst>
                </a:gridCol>
                <a:gridCol w="1449977">
                  <a:extLst>
                    <a:ext uri="{9D8B030D-6E8A-4147-A177-3AD203B41FA5}">
                      <a16:colId xmlns:a16="http://schemas.microsoft.com/office/drawing/2014/main" val="2189778"/>
                    </a:ext>
                  </a:extLst>
                </a:gridCol>
              </a:tblGrid>
              <a:tr h="987527">
                <a:tc>
                  <a:txBody>
                    <a:bodyPr/>
                    <a:lstStyle/>
                    <a:p>
                      <a:r>
                        <a:rPr lang="en-IN" sz="1200" dirty="0" smtClean="0">
                          <a:latin typeface="Verdana" panose="020B0604030504040204" pitchFamily="34" charset="0"/>
                          <a:ea typeface="Verdana" panose="020B0604030504040204" pitchFamily="34" charset="0"/>
                        </a:rPr>
                        <a:t>*</a:t>
                      </a:r>
                    </a:p>
                    <a:p>
                      <a:r>
                        <a:rPr lang="en-IN" sz="1200" dirty="0" smtClean="0">
                          <a:latin typeface="Verdana" panose="020B0604030504040204" pitchFamily="34" charset="0"/>
                          <a:ea typeface="Verdana" panose="020B0604030504040204" pitchFamily="34" charset="0"/>
                        </a:rPr>
                        <a:t>Item Number</a:t>
                      </a:r>
                      <a:endParaRPr lang="en-IN" sz="1200" dirty="0">
                        <a:latin typeface="Verdana" panose="020B0604030504040204" pitchFamily="34" charset="0"/>
                        <a:ea typeface="Verdana" panose="020B0604030504040204" pitchFamily="34" charset="0"/>
                      </a:endParaRPr>
                    </a:p>
                  </a:txBody>
                  <a:tcPr/>
                </a:tc>
                <a:tc>
                  <a:txBody>
                    <a:bodyPr/>
                    <a:lstStyle/>
                    <a:p>
                      <a:endParaRPr lang="en-IN" sz="1200" dirty="0" smtClean="0">
                        <a:latin typeface="Verdana" panose="020B0604030504040204" pitchFamily="34" charset="0"/>
                        <a:ea typeface="Verdana" panose="020B0604030504040204" pitchFamily="34" charset="0"/>
                      </a:endParaRPr>
                    </a:p>
                    <a:p>
                      <a:r>
                        <a:rPr lang="en-IN" sz="1200" dirty="0" smtClean="0">
                          <a:latin typeface="Verdana" panose="020B0604030504040204" pitchFamily="34" charset="0"/>
                          <a:ea typeface="Verdana" panose="020B0604030504040204" pitchFamily="34" charset="0"/>
                        </a:rPr>
                        <a:t>Item Description</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653051938"/>
                  </a:ext>
                </a:extLst>
              </a:tr>
              <a:tr h="400497">
                <a:tc>
                  <a:txBody>
                    <a:bodyPr/>
                    <a:lstStyle/>
                    <a:p>
                      <a:r>
                        <a:rPr lang="en-IN" sz="1200" dirty="0" smtClean="0">
                          <a:latin typeface="Verdana" panose="020B0604030504040204" pitchFamily="34" charset="0"/>
                          <a:ea typeface="Verdana" panose="020B0604030504040204" pitchFamily="34" charset="0"/>
                        </a:rPr>
                        <a:t>TR10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Router </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138780183"/>
                  </a:ext>
                </a:extLst>
              </a:tr>
              <a:tr h="400497">
                <a:tc>
                  <a:txBody>
                    <a:bodyPr/>
                    <a:lstStyle/>
                    <a:p>
                      <a:r>
                        <a:rPr lang="en-IN" sz="1200" dirty="0" smtClean="0">
                          <a:latin typeface="Verdana" panose="020B0604030504040204" pitchFamily="34" charset="0"/>
                          <a:ea typeface="Verdana" panose="020B0604030504040204" pitchFamily="34" charset="0"/>
                        </a:rPr>
                        <a:t>SA1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Saw</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259368836"/>
                  </a:ext>
                </a:extLst>
              </a:tr>
              <a:tr h="400497">
                <a:tc>
                  <a:txBody>
                    <a:bodyPr/>
                    <a:lstStyle/>
                    <a:p>
                      <a:r>
                        <a:rPr lang="en-IN" sz="1200" dirty="0" smtClean="0">
                          <a:latin typeface="Verdana" panose="020B0604030504040204" pitchFamily="34" charset="0"/>
                          <a:ea typeface="Verdana" panose="020B0604030504040204" pitchFamily="34" charset="0"/>
                        </a:rPr>
                        <a:t>PT6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Drill</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913891876"/>
                  </a:ext>
                </a:extLst>
              </a:tr>
              <a:tr h="400497">
                <a:tc>
                  <a:txBody>
                    <a:bodyPr/>
                    <a:lstStyle/>
                    <a:p>
                      <a:r>
                        <a:rPr lang="en-IN" sz="1200" dirty="0" smtClean="0">
                          <a:latin typeface="Verdana" panose="020B0604030504040204" pitchFamily="34" charset="0"/>
                          <a:ea typeface="Verdana" panose="020B0604030504040204" pitchFamily="34" charset="0"/>
                        </a:rPr>
                        <a:t>A16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Lawn Mover</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765321725"/>
                  </a:ext>
                </a:extLst>
              </a:tr>
              <a:tr h="400497">
                <a:tc>
                  <a:txBody>
                    <a:bodyPr/>
                    <a:lstStyle/>
                    <a:p>
                      <a:r>
                        <a:rPr lang="en-IN" sz="1200" dirty="0" smtClean="0">
                          <a:latin typeface="Verdana" panose="020B0604030504040204" pitchFamily="34" charset="0"/>
                          <a:ea typeface="Verdana" panose="020B0604030504040204" pitchFamily="34" charset="0"/>
                        </a:rPr>
                        <a:t>TT1</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Humidifier</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593061769"/>
                  </a:ext>
                </a:extLst>
              </a:tr>
              <a:tr h="400497">
                <a:tc>
                  <a:txBody>
                    <a:bodyPr/>
                    <a:lstStyle/>
                    <a:p>
                      <a:r>
                        <a:rPr lang="en-IN" sz="1200" dirty="0" smtClean="0">
                          <a:latin typeface="Verdana" panose="020B0604030504040204" pitchFamily="34" charset="0"/>
                          <a:ea typeface="Verdana" panose="020B0604030504040204" pitchFamily="34" charset="0"/>
                        </a:rPr>
                        <a:t>DS10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Dishwasher</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38499891"/>
                  </a:ext>
                </a:extLst>
              </a:tr>
              <a:tr h="400497">
                <a:tc>
                  <a:txBody>
                    <a:bodyPr/>
                    <a:lstStyle/>
                    <a:p>
                      <a:r>
                        <a:rPr lang="en-IN" sz="1200" dirty="0" smtClean="0">
                          <a:latin typeface="Verdana" panose="020B0604030504040204" pitchFamily="34" charset="0"/>
                          <a:ea typeface="Verdana" panose="020B0604030504040204" pitchFamily="34" charset="0"/>
                        </a:rPr>
                        <a:t>C16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Snow Tire</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470585598"/>
                  </a:ext>
                </a:extLst>
              </a:tr>
              <a:tr h="400497">
                <a:tc>
                  <a:txBody>
                    <a:bodyPr/>
                    <a:lstStyle/>
                    <a:p>
                      <a:r>
                        <a:rPr lang="en-IN" sz="1200" dirty="0" smtClean="0">
                          <a:latin typeface="Verdana" panose="020B0604030504040204" pitchFamily="34" charset="0"/>
                          <a:ea typeface="Verdana" panose="020B0604030504040204" pitchFamily="34" charset="0"/>
                        </a:rPr>
                        <a:t>AT146</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Alternator</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4241661489"/>
                  </a:ext>
                </a:extLst>
              </a:tr>
              <a:tr h="400497">
                <a:tc>
                  <a:txBody>
                    <a:bodyPr/>
                    <a:lstStyle/>
                    <a:p>
                      <a:r>
                        <a:rPr lang="en-IN" sz="1200" dirty="0" smtClean="0">
                          <a:latin typeface="Verdana" panose="020B0604030504040204" pitchFamily="34" charset="0"/>
                          <a:ea typeface="Verdana" panose="020B0604030504040204" pitchFamily="34" charset="0"/>
                        </a:rPr>
                        <a:t>S10</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smtClean="0">
                          <a:latin typeface="Verdana" panose="020B0604030504040204" pitchFamily="34" charset="0"/>
                          <a:ea typeface="Verdana" panose="020B0604030504040204" pitchFamily="34" charset="0"/>
                        </a:rPr>
                        <a:t>Suit</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088072489"/>
                  </a:ext>
                </a:extLst>
              </a:tr>
            </a:tbl>
          </a:graphicData>
        </a:graphic>
      </p:graphicFrame>
      <p:grpSp>
        <p:nvGrpSpPr>
          <p:cNvPr id="46" name="Group 45"/>
          <p:cNvGrpSpPr/>
          <p:nvPr/>
        </p:nvGrpSpPr>
        <p:grpSpPr>
          <a:xfrm>
            <a:off x="509451" y="796832"/>
            <a:ext cx="11351623" cy="5894850"/>
            <a:chOff x="509451" y="796832"/>
            <a:chExt cx="11351623" cy="5894850"/>
          </a:xfrm>
        </p:grpSpPr>
        <p:cxnSp>
          <p:nvCxnSpPr>
            <p:cNvPr id="10" name="Straight Connector 9"/>
            <p:cNvCxnSpPr/>
            <p:nvPr/>
          </p:nvCxnSpPr>
          <p:spPr>
            <a:xfrm>
              <a:off x="509451" y="1227909"/>
              <a:ext cx="0" cy="413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09451" y="1214846"/>
              <a:ext cx="5995852"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505303" y="1227909"/>
              <a:ext cx="13063" cy="413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26080" y="796832"/>
              <a:ext cx="365760" cy="369332"/>
            </a:xfrm>
            <a:prstGeom prst="rect">
              <a:avLst/>
            </a:prstGeom>
            <a:noFill/>
          </p:spPr>
          <p:txBody>
            <a:bodyPr wrap="square" rtlCol="0">
              <a:spAutoFit/>
            </a:bodyPr>
            <a:lstStyle/>
            <a:p>
              <a:r>
                <a:rPr lang="en-IN" dirty="0" smtClean="0"/>
                <a:t>1</a:t>
              </a:r>
              <a:endParaRPr lang="en-IN" dirty="0"/>
            </a:p>
          </p:txBody>
        </p:sp>
        <p:cxnSp>
          <p:nvCxnSpPr>
            <p:cNvPr id="29" name="Straight Connector 28"/>
            <p:cNvCxnSpPr/>
            <p:nvPr/>
          </p:nvCxnSpPr>
          <p:spPr>
            <a:xfrm flipV="1">
              <a:off x="3317965" y="1815737"/>
              <a:ext cx="70539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023360" y="1828800"/>
              <a:ext cx="0" cy="30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422469" y="1440483"/>
              <a:ext cx="269639" cy="369332"/>
            </a:xfrm>
            <a:prstGeom prst="rect">
              <a:avLst/>
            </a:prstGeom>
            <a:noFill/>
          </p:spPr>
          <p:txBody>
            <a:bodyPr wrap="square" rtlCol="0">
              <a:spAutoFit/>
            </a:bodyPr>
            <a:lstStyle/>
            <a:p>
              <a:r>
                <a:rPr lang="en-IN" dirty="0" smtClean="0"/>
                <a:t>2</a:t>
              </a:r>
              <a:endParaRPr lang="en-IN" dirty="0"/>
            </a:p>
          </p:txBody>
        </p:sp>
        <p:cxnSp>
          <p:nvCxnSpPr>
            <p:cNvPr id="36" name="Straight Connector 35"/>
            <p:cNvCxnSpPr/>
            <p:nvPr/>
          </p:nvCxnSpPr>
          <p:spPr>
            <a:xfrm>
              <a:off x="7471954" y="1227909"/>
              <a:ext cx="13063" cy="4136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7485017" y="1227909"/>
              <a:ext cx="26386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10136777" y="1214846"/>
              <a:ext cx="26126" cy="426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8334103" y="796832"/>
              <a:ext cx="404948" cy="369332"/>
            </a:xfrm>
            <a:prstGeom prst="rect">
              <a:avLst/>
            </a:prstGeom>
            <a:noFill/>
          </p:spPr>
          <p:txBody>
            <a:bodyPr wrap="square" rtlCol="0">
              <a:spAutoFit/>
            </a:bodyPr>
            <a:lstStyle/>
            <a:p>
              <a:r>
                <a:rPr lang="en-IN" dirty="0" smtClean="0"/>
                <a:t>3</a:t>
              </a:r>
              <a:endParaRPr lang="en-IN" dirty="0"/>
            </a:p>
          </p:txBody>
        </p:sp>
        <p:sp>
          <p:nvSpPr>
            <p:cNvPr id="42" name="TextBox 41"/>
            <p:cNvSpPr txBox="1"/>
            <p:nvPr/>
          </p:nvSpPr>
          <p:spPr>
            <a:xfrm>
              <a:off x="652415" y="4876013"/>
              <a:ext cx="2116183" cy="35348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Data File</a:t>
              </a:r>
              <a:endParaRPr lang="en-IN" dirty="0"/>
            </a:p>
          </p:txBody>
        </p:sp>
        <p:sp>
          <p:nvSpPr>
            <p:cNvPr id="43" name="TextBox 42"/>
            <p:cNvSpPr txBox="1"/>
            <p:nvPr/>
          </p:nvSpPr>
          <p:spPr>
            <a:xfrm>
              <a:off x="6096000" y="6322350"/>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Salesman Item File</a:t>
              </a:r>
              <a:endParaRPr lang="en-IN" dirty="0"/>
            </a:p>
          </p:txBody>
        </p:sp>
        <p:sp>
          <p:nvSpPr>
            <p:cNvPr id="44" name="TextBox 43"/>
            <p:cNvSpPr txBox="1"/>
            <p:nvPr/>
          </p:nvSpPr>
          <p:spPr>
            <a:xfrm>
              <a:off x="9744891" y="6322350"/>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Item File</a:t>
              </a:r>
              <a:endParaRPr lang="en-IN" dirty="0"/>
            </a:p>
          </p:txBody>
        </p:sp>
        <p:sp>
          <p:nvSpPr>
            <p:cNvPr id="45" name="TextBox 44"/>
            <p:cNvSpPr txBox="1"/>
            <p:nvPr/>
          </p:nvSpPr>
          <p:spPr>
            <a:xfrm>
              <a:off x="3803469" y="5436715"/>
              <a:ext cx="2116183"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IN" dirty="0" smtClean="0"/>
                <a:t>Store Branch File</a:t>
              </a:r>
              <a:endParaRPr lang="en-IN" dirty="0"/>
            </a:p>
          </p:txBody>
        </p:sp>
      </p:grpSp>
    </p:spTree>
    <p:extLst>
      <p:ext uri="{BB962C8B-B14F-4D97-AF65-F5344CB8AC3E}">
        <p14:creationId xmlns:p14="http://schemas.microsoft.com/office/powerpoint/2010/main" val="22949729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9817"/>
            <a:ext cx="10515600" cy="561703"/>
          </a:xfrm>
        </p:spPr>
        <p:txBody>
          <a:bodyPr>
            <a:normAutofit/>
          </a:bodyPr>
          <a:lstStyle/>
          <a:p>
            <a:r>
              <a:rPr lang="en-IN" sz="2800" b="1" dirty="0">
                <a:latin typeface="Verdana" panose="020B0604030504040204" pitchFamily="34" charset="0"/>
                <a:ea typeface="Verdana" panose="020B0604030504040204" pitchFamily="34" charset="0"/>
              </a:rPr>
              <a:t>3</a:t>
            </a:r>
            <a:r>
              <a:rPr lang="en-IN" sz="2800" b="1" baseline="30000" dirty="0">
                <a:latin typeface="Verdana" panose="020B0604030504040204" pitchFamily="34" charset="0"/>
                <a:ea typeface="Verdana" panose="020B0604030504040204" pitchFamily="34" charset="0"/>
              </a:rPr>
              <a:t>rd</a:t>
            </a:r>
            <a:r>
              <a:rPr lang="en-IN" sz="2800" b="1" dirty="0">
                <a:latin typeface="Verdana" panose="020B0604030504040204" pitchFamily="34" charset="0"/>
                <a:ea typeface="Verdana" panose="020B0604030504040204" pitchFamily="34" charset="0"/>
              </a:rPr>
              <a:t> Normal Form (3NF) contd.</a:t>
            </a:r>
            <a:endParaRPr lang="en-IN" sz="2800" dirty="0"/>
          </a:p>
        </p:txBody>
      </p:sp>
      <p:sp>
        <p:nvSpPr>
          <p:cNvPr id="3" name="Content Placeholder 2"/>
          <p:cNvSpPr>
            <a:spLocks noGrp="1"/>
          </p:cNvSpPr>
          <p:nvPr>
            <p:ph idx="1"/>
          </p:nvPr>
        </p:nvSpPr>
        <p:spPr>
          <a:xfrm>
            <a:off x="838200" y="888274"/>
            <a:ext cx="10515600" cy="5865223"/>
          </a:xfrm>
        </p:spPr>
        <p:txBody>
          <a:bodyPr>
            <a:normAutofit/>
          </a:bodyPr>
          <a:lstStyle/>
          <a:p>
            <a:pPr algn="just"/>
            <a:r>
              <a:rPr lang="en-IN" dirty="0" smtClean="0"/>
              <a:t>With the third normalization, we can store branch information independent of the salesman in the branch. We can also make changes in the “Department” without having to update the record of the employee in it. In this respect, normalisation simplifies the relationships and provide logical links between files without losing information</a:t>
            </a:r>
            <a:r>
              <a:rPr lang="en-IN" dirty="0" smtClean="0"/>
              <a:t>.</a:t>
            </a:r>
          </a:p>
          <a:p>
            <a:pPr algn="just"/>
            <a:endParaRPr lang="en-IN" dirty="0"/>
          </a:p>
        </p:txBody>
      </p:sp>
    </p:spTree>
    <p:extLst>
      <p:ext uri="{BB962C8B-B14F-4D97-AF65-F5344CB8AC3E}">
        <p14:creationId xmlns:p14="http://schemas.microsoft.com/office/powerpoint/2010/main" val="29421043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6"/>
            <a:ext cx="10515600" cy="653778"/>
          </a:xfrm>
        </p:spPr>
        <p:txBody>
          <a:bodyPr>
            <a:normAutofit fontScale="90000"/>
          </a:bodyPr>
          <a:lstStyle/>
          <a:p>
            <a:r>
              <a:rPr lang="en-US" b="1" dirty="0" smtClean="0"/>
              <a:t>Points to remember</a:t>
            </a:r>
            <a:endParaRPr lang="en-IN" b="1" dirty="0"/>
          </a:p>
        </p:txBody>
      </p:sp>
      <p:sp>
        <p:nvSpPr>
          <p:cNvPr id="3" name="Content Placeholder 2"/>
          <p:cNvSpPr>
            <a:spLocks noGrp="1"/>
          </p:cNvSpPr>
          <p:nvPr>
            <p:ph idx="1"/>
          </p:nvPr>
        </p:nvSpPr>
        <p:spPr>
          <a:xfrm>
            <a:off x="838200" y="836024"/>
            <a:ext cx="10515600" cy="5340939"/>
          </a:xfrm>
        </p:spPr>
        <p:txBody>
          <a:bodyPr>
            <a:normAutofit lnSpcReduction="10000"/>
          </a:bodyPr>
          <a:lstStyle/>
          <a:p>
            <a:r>
              <a:rPr lang="en-US" b="1" dirty="0"/>
              <a:t>What Does Data Redundancy Mean?</a:t>
            </a:r>
          </a:p>
          <a:p>
            <a:r>
              <a:rPr lang="en-US" sz="2000" dirty="0"/>
              <a:t>Data redundancy is a condition created within a database or data storage technology in which the same piece of data is held in two separate places.</a:t>
            </a:r>
          </a:p>
          <a:p>
            <a:r>
              <a:rPr lang="en-US" sz="2000" dirty="0"/>
              <a:t>This can mean two different fields within a single database, or two different spots in multiple software environments or platforms. Whenever data is repeated, it basically constitutes data redundancy.</a:t>
            </a:r>
          </a:p>
          <a:p>
            <a:r>
              <a:rPr lang="en-US" sz="2000" dirty="0"/>
              <a:t>Data redundancy can occur by accident but is also done deliberately for backup and recovery purposes</a:t>
            </a:r>
            <a:r>
              <a:rPr lang="en-US" sz="2000" dirty="0" smtClean="0"/>
              <a:t>.</a:t>
            </a:r>
          </a:p>
          <a:p>
            <a:r>
              <a:rPr lang="en-US" sz="2000" b="1" dirty="0"/>
              <a:t>What is a transitive and partial dependency?</a:t>
            </a:r>
          </a:p>
          <a:p>
            <a:r>
              <a:rPr lang="en-US" sz="2000" dirty="0"/>
              <a:t>Transitive dependency occurs when some non-key attribute determines some other attribute. On the other hand, partial dependency occurs when one primary key determines some other attribute/attributes.</a:t>
            </a:r>
          </a:p>
          <a:p>
            <a:r>
              <a:rPr lang="en-US" sz="2000" b="1" dirty="0"/>
              <a:t>What is a non-prime attribute?</a:t>
            </a:r>
          </a:p>
          <a:p>
            <a:r>
              <a:rPr lang="en-US" sz="2000" dirty="0"/>
              <a:t>A non-prime attribute refers to an attribute that does not happen to be a part of the prime key. </a:t>
            </a:r>
            <a:r>
              <a:rPr lang="en-US" sz="2000"/>
              <a:t>Thus, if we follow the second normal form, every non-prime attribute must be fully functionally dependent on the prime key attribute.</a:t>
            </a:r>
          </a:p>
          <a:p>
            <a:endParaRPr lang="en-US" sz="2000" dirty="0"/>
          </a:p>
        </p:txBody>
      </p:sp>
    </p:spTree>
    <p:extLst>
      <p:ext uri="{BB962C8B-B14F-4D97-AF65-F5344CB8AC3E}">
        <p14:creationId xmlns:p14="http://schemas.microsoft.com/office/powerpoint/2010/main" val="2907327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1576</TotalTime>
  <Words>1726</Words>
  <Application>Microsoft Office PowerPoint</Application>
  <PresentationFormat>Widescreen</PresentationFormat>
  <Paragraphs>377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Verdana</vt:lpstr>
      <vt:lpstr>Wingdings</vt:lpstr>
      <vt:lpstr>Office Theme</vt:lpstr>
      <vt:lpstr>Normalization</vt:lpstr>
      <vt:lpstr>Normalization</vt:lpstr>
      <vt:lpstr>What is the need for normalization?</vt:lpstr>
      <vt:lpstr>What is the need for normalization? Contd.</vt:lpstr>
      <vt:lpstr>1st Normal Form(1NF)</vt:lpstr>
      <vt:lpstr>1st Normal Form(1NF): contd.</vt:lpstr>
      <vt:lpstr>1st Normal Form(1NF): contd.</vt:lpstr>
      <vt:lpstr>1st Normal Form(1NF): contd.</vt:lpstr>
      <vt:lpstr>2nd Normal Form (2NF)</vt:lpstr>
      <vt:lpstr>2nd Normal Form (2NF) contd.(understanding problem with 2NF)</vt:lpstr>
      <vt:lpstr>2nd Normal Form (2NF) contd.(Solving problem with 2NF)</vt:lpstr>
      <vt:lpstr>2nd Normal Form (2NF) contd.(Solving problem with 2NF)</vt:lpstr>
      <vt:lpstr>3rd Normal Form (3NF)</vt:lpstr>
      <vt:lpstr>3rd Normal Form (3NF) contd.</vt:lpstr>
      <vt:lpstr>3rd Normal Form (3NF) contd.</vt:lpstr>
      <vt:lpstr>Points to remember</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dc:title>
  <dc:creator>Tanweer Alam</dc:creator>
  <cp:lastModifiedBy>Tanweer Alam</cp:lastModifiedBy>
  <cp:revision>28</cp:revision>
  <dcterms:created xsi:type="dcterms:W3CDTF">2023-02-01T18:25:09Z</dcterms:created>
  <dcterms:modified xsi:type="dcterms:W3CDTF">2023-02-15T18:32:44Z</dcterms:modified>
</cp:coreProperties>
</file>