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8" r:id="rId3"/>
    <p:sldId id="269" r:id="rId4"/>
    <p:sldId id="257" r:id="rId5"/>
    <p:sldId id="258" r:id="rId6"/>
    <p:sldId id="259" r:id="rId7"/>
    <p:sldId id="260" r:id="rId8"/>
    <p:sldId id="261" r:id="rId9"/>
    <p:sldId id="262" r:id="rId10"/>
    <p:sldId id="263" r:id="rId11"/>
    <p:sldId id="264" r:id="rId12"/>
    <p:sldId id="266" r:id="rId13"/>
    <p:sldId id="265" r:id="rId14"/>
    <p:sldId id="267"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3" d="100"/>
          <a:sy n="73" d="100"/>
        </p:scale>
        <p:origin x="61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A2B63804-D378-495D-88E6-A5B6C644C2E7}" type="datetimeFigureOut">
              <a:rPr lang="en-IN" smtClean="0"/>
              <a:t>09-02-2023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EA26475-039D-4803-988D-27108430502E}" type="slidenum">
              <a:rPr lang="en-IN" smtClean="0"/>
              <a:t>‹#›</a:t>
            </a:fld>
            <a:endParaRPr lang="en-IN"/>
          </a:p>
        </p:txBody>
      </p:sp>
    </p:spTree>
    <p:extLst>
      <p:ext uri="{BB962C8B-B14F-4D97-AF65-F5344CB8AC3E}">
        <p14:creationId xmlns:p14="http://schemas.microsoft.com/office/powerpoint/2010/main" val="42544288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2B63804-D378-495D-88E6-A5B6C644C2E7}" type="datetimeFigureOut">
              <a:rPr lang="en-IN" smtClean="0"/>
              <a:t>09-02-2023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EA26475-039D-4803-988D-27108430502E}" type="slidenum">
              <a:rPr lang="en-IN" smtClean="0"/>
              <a:t>‹#›</a:t>
            </a:fld>
            <a:endParaRPr lang="en-IN"/>
          </a:p>
        </p:txBody>
      </p:sp>
    </p:spTree>
    <p:extLst>
      <p:ext uri="{BB962C8B-B14F-4D97-AF65-F5344CB8AC3E}">
        <p14:creationId xmlns:p14="http://schemas.microsoft.com/office/powerpoint/2010/main" val="18453856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2B63804-D378-495D-88E6-A5B6C644C2E7}" type="datetimeFigureOut">
              <a:rPr lang="en-IN" smtClean="0"/>
              <a:t>09-02-2023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EA26475-039D-4803-988D-27108430502E}" type="slidenum">
              <a:rPr lang="en-IN" smtClean="0"/>
              <a:t>‹#›</a:t>
            </a:fld>
            <a:endParaRPr lang="en-IN"/>
          </a:p>
        </p:txBody>
      </p:sp>
    </p:spTree>
    <p:extLst>
      <p:ext uri="{BB962C8B-B14F-4D97-AF65-F5344CB8AC3E}">
        <p14:creationId xmlns:p14="http://schemas.microsoft.com/office/powerpoint/2010/main" val="19767953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A2B63804-D378-495D-88E6-A5B6C644C2E7}" type="datetimeFigureOut">
              <a:rPr lang="en-IN" smtClean="0"/>
              <a:t>09-02-2023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EA26475-039D-4803-988D-27108430502E}" type="slidenum">
              <a:rPr lang="en-IN" smtClean="0"/>
              <a:t>‹#›</a:t>
            </a:fld>
            <a:endParaRPr lang="en-IN"/>
          </a:p>
        </p:txBody>
      </p:sp>
    </p:spTree>
    <p:extLst>
      <p:ext uri="{BB962C8B-B14F-4D97-AF65-F5344CB8AC3E}">
        <p14:creationId xmlns:p14="http://schemas.microsoft.com/office/powerpoint/2010/main" val="28779045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A2B63804-D378-495D-88E6-A5B6C644C2E7}" type="datetimeFigureOut">
              <a:rPr lang="en-IN" smtClean="0"/>
              <a:t>09-02-2023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EA26475-039D-4803-988D-27108430502E}" type="slidenum">
              <a:rPr lang="en-IN" smtClean="0"/>
              <a:t>‹#›</a:t>
            </a:fld>
            <a:endParaRPr lang="en-IN"/>
          </a:p>
        </p:txBody>
      </p:sp>
    </p:spTree>
    <p:extLst>
      <p:ext uri="{BB962C8B-B14F-4D97-AF65-F5344CB8AC3E}">
        <p14:creationId xmlns:p14="http://schemas.microsoft.com/office/powerpoint/2010/main" val="28034489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A2B63804-D378-495D-88E6-A5B6C644C2E7}" type="datetimeFigureOut">
              <a:rPr lang="en-IN" smtClean="0"/>
              <a:t>09-02-2023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EA26475-039D-4803-988D-27108430502E}" type="slidenum">
              <a:rPr lang="en-IN" smtClean="0"/>
              <a:t>‹#›</a:t>
            </a:fld>
            <a:endParaRPr lang="en-IN"/>
          </a:p>
        </p:txBody>
      </p:sp>
    </p:spTree>
    <p:extLst>
      <p:ext uri="{BB962C8B-B14F-4D97-AF65-F5344CB8AC3E}">
        <p14:creationId xmlns:p14="http://schemas.microsoft.com/office/powerpoint/2010/main" val="21192339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2B63804-D378-495D-88E6-A5B6C644C2E7}" type="datetimeFigureOut">
              <a:rPr lang="en-IN" smtClean="0"/>
              <a:t>09-02-2023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EA26475-039D-4803-988D-27108430502E}" type="slidenum">
              <a:rPr lang="en-IN" smtClean="0"/>
              <a:t>‹#›</a:t>
            </a:fld>
            <a:endParaRPr lang="en-IN"/>
          </a:p>
        </p:txBody>
      </p:sp>
    </p:spTree>
    <p:extLst>
      <p:ext uri="{BB962C8B-B14F-4D97-AF65-F5344CB8AC3E}">
        <p14:creationId xmlns:p14="http://schemas.microsoft.com/office/powerpoint/2010/main" val="37739960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A2B63804-D378-495D-88E6-A5B6C644C2E7}" type="datetimeFigureOut">
              <a:rPr lang="en-IN" smtClean="0"/>
              <a:t>09-02-2023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EA26475-039D-4803-988D-27108430502E}" type="slidenum">
              <a:rPr lang="en-IN" smtClean="0"/>
              <a:t>‹#›</a:t>
            </a:fld>
            <a:endParaRPr lang="en-IN"/>
          </a:p>
        </p:txBody>
      </p:sp>
    </p:spTree>
    <p:extLst>
      <p:ext uri="{BB962C8B-B14F-4D97-AF65-F5344CB8AC3E}">
        <p14:creationId xmlns:p14="http://schemas.microsoft.com/office/powerpoint/2010/main" val="10328531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A2B63804-D378-495D-88E6-A5B6C644C2E7}" type="datetimeFigureOut">
              <a:rPr lang="en-IN" smtClean="0"/>
              <a:t>09-02-2023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EA26475-039D-4803-988D-27108430502E}" type="slidenum">
              <a:rPr lang="en-IN" smtClean="0"/>
              <a:t>‹#›</a:t>
            </a:fld>
            <a:endParaRPr lang="en-IN"/>
          </a:p>
        </p:txBody>
      </p:sp>
    </p:spTree>
    <p:extLst>
      <p:ext uri="{BB962C8B-B14F-4D97-AF65-F5344CB8AC3E}">
        <p14:creationId xmlns:p14="http://schemas.microsoft.com/office/powerpoint/2010/main" val="18003318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2B63804-D378-495D-88E6-A5B6C644C2E7}" type="datetimeFigureOut">
              <a:rPr lang="en-IN" smtClean="0"/>
              <a:t>09-02-2023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EA26475-039D-4803-988D-27108430502E}" type="slidenum">
              <a:rPr lang="en-IN" smtClean="0"/>
              <a:t>‹#›</a:t>
            </a:fld>
            <a:endParaRPr lang="en-IN"/>
          </a:p>
        </p:txBody>
      </p:sp>
    </p:spTree>
    <p:extLst>
      <p:ext uri="{BB962C8B-B14F-4D97-AF65-F5344CB8AC3E}">
        <p14:creationId xmlns:p14="http://schemas.microsoft.com/office/powerpoint/2010/main" val="14126992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2B63804-D378-495D-88E6-A5B6C644C2E7}" type="datetimeFigureOut">
              <a:rPr lang="en-IN" smtClean="0"/>
              <a:t>09-02-2023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EA26475-039D-4803-988D-27108430502E}" type="slidenum">
              <a:rPr lang="en-IN" smtClean="0"/>
              <a:t>‹#›</a:t>
            </a:fld>
            <a:endParaRPr lang="en-IN"/>
          </a:p>
        </p:txBody>
      </p:sp>
    </p:spTree>
    <p:extLst>
      <p:ext uri="{BB962C8B-B14F-4D97-AF65-F5344CB8AC3E}">
        <p14:creationId xmlns:p14="http://schemas.microsoft.com/office/powerpoint/2010/main" val="6834810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B63804-D378-495D-88E6-A5B6C644C2E7}" type="datetimeFigureOut">
              <a:rPr lang="en-IN" smtClean="0"/>
              <a:t>09-02-2023</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EA26475-039D-4803-988D-27108430502E}" type="slidenum">
              <a:rPr lang="en-IN" smtClean="0"/>
              <a:t>‹#›</a:t>
            </a:fld>
            <a:endParaRPr lang="en-IN"/>
          </a:p>
        </p:txBody>
      </p:sp>
    </p:spTree>
    <p:extLst>
      <p:ext uri="{BB962C8B-B14F-4D97-AF65-F5344CB8AC3E}">
        <p14:creationId xmlns:p14="http://schemas.microsoft.com/office/powerpoint/2010/main" val="14428071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IN" sz="3600" b="1" dirty="0" smtClean="0">
                <a:latin typeface="Verdana" panose="020B0604030504040204" pitchFamily="34" charset="0"/>
                <a:ea typeface="Verdana" panose="020B0604030504040204" pitchFamily="34" charset="0"/>
              </a:rPr>
              <a:t>Context </a:t>
            </a:r>
            <a:r>
              <a:rPr lang="en-IN" sz="3600" b="1" smtClean="0">
                <a:latin typeface="Verdana" panose="020B0604030504040204" pitchFamily="34" charset="0"/>
                <a:ea typeface="Verdana" panose="020B0604030504040204" pitchFamily="34" charset="0"/>
              </a:rPr>
              <a:t>Analysis Diagram</a:t>
            </a:r>
            <a:endParaRPr lang="en-IN" sz="3600" b="1" dirty="0">
              <a:latin typeface="Verdana" panose="020B0604030504040204" pitchFamily="34" charset="0"/>
              <a:ea typeface="Verdana" panose="020B0604030504040204" pitchFamily="34" charset="0"/>
            </a:endParaRPr>
          </a:p>
        </p:txBody>
      </p:sp>
      <p:sp>
        <p:nvSpPr>
          <p:cNvPr id="3" name="Subtitle 2"/>
          <p:cNvSpPr>
            <a:spLocks noGrp="1"/>
          </p:cNvSpPr>
          <p:nvPr>
            <p:ph type="subTitle" idx="1"/>
          </p:nvPr>
        </p:nvSpPr>
        <p:spPr/>
        <p:txBody>
          <a:bodyPr/>
          <a:lstStyle/>
          <a:p>
            <a:r>
              <a:rPr lang="en-IN" b="1" dirty="0" smtClean="0">
                <a:latin typeface="Verdana" panose="020B0604030504040204" pitchFamily="34" charset="0"/>
                <a:ea typeface="Verdana" panose="020B0604030504040204" pitchFamily="34" charset="0"/>
              </a:rPr>
              <a:t>(DFD)</a:t>
            </a:r>
          </a:p>
          <a:p>
            <a:pPr algn="r"/>
            <a:r>
              <a:rPr lang="en-IN" b="1" dirty="0" smtClean="0">
                <a:latin typeface="Verdana" panose="020B0604030504040204" pitchFamily="34" charset="0"/>
                <a:ea typeface="Verdana" panose="020B0604030504040204" pitchFamily="34" charset="0"/>
              </a:rPr>
              <a:t>By </a:t>
            </a:r>
            <a:r>
              <a:rPr lang="en-IN" b="1" dirty="0">
                <a:latin typeface="Verdana" panose="020B0604030504040204" pitchFamily="34" charset="0"/>
                <a:ea typeface="Verdana" panose="020B0604030504040204" pitchFamily="34" charset="0"/>
              </a:rPr>
              <a:t>G</a:t>
            </a:r>
            <a:r>
              <a:rPr lang="en-IN" b="1" dirty="0" smtClean="0">
                <a:latin typeface="Verdana" panose="020B0604030504040204" pitchFamily="34" charset="0"/>
                <a:ea typeface="Verdana" panose="020B0604030504040204" pitchFamily="34" charset="0"/>
              </a:rPr>
              <a:t>hazala</a:t>
            </a:r>
            <a:endParaRPr lang="en-IN" b="1"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6053190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1441"/>
            <a:ext cx="10515600" cy="600890"/>
          </a:xfrm>
        </p:spPr>
        <p:txBody>
          <a:bodyPr>
            <a:normAutofit/>
          </a:bodyPr>
          <a:lstStyle/>
          <a:p>
            <a:r>
              <a:rPr lang="en-IN" sz="2800" b="1" dirty="0">
                <a:latin typeface="Verdana" panose="020B0604030504040204" pitchFamily="34" charset="0"/>
                <a:ea typeface="Verdana" panose="020B0604030504040204" pitchFamily="34" charset="0"/>
              </a:rPr>
              <a:t>Context Analysis </a:t>
            </a:r>
            <a:r>
              <a:rPr lang="en-IN" sz="2800" b="1" dirty="0" smtClean="0">
                <a:latin typeface="Verdana" panose="020B0604030504040204" pitchFamily="34" charset="0"/>
                <a:ea typeface="Verdana" panose="020B0604030504040204" pitchFamily="34" charset="0"/>
              </a:rPr>
              <a:t>Diagram: An Introduction</a:t>
            </a:r>
            <a:endParaRPr lang="en-IN" sz="2800" dirty="0"/>
          </a:p>
        </p:txBody>
      </p:sp>
      <p:sp>
        <p:nvSpPr>
          <p:cNvPr id="3" name="Content Placeholder 2"/>
          <p:cNvSpPr>
            <a:spLocks noGrp="1"/>
          </p:cNvSpPr>
          <p:nvPr>
            <p:ph idx="1"/>
          </p:nvPr>
        </p:nvSpPr>
        <p:spPr>
          <a:xfrm>
            <a:off x="838200" y="940526"/>
            <a:ext cx="10515600" cy="5786845"/>
          </a:xfrm>
        </p:spPr>
        <p:txBody>
          <a:bodyPr>
            <a:normAutofit/>
          </a:bodyPr>
          <a:lstStyle/>
          <a:p>
            <a:pPr algn="just"/>
            <a:r>
              <a:rPr lang="en-IN" sz="2400" dirty="0">
                <a:latin typeface="Verdana" panose="020B0604030504040204" pitchFamily="34" charset="0"/>
                <a:ea typeface="Verdana" panose="020B0604030504040204" pitchFamily="34" charset="0"/>
              </a:rPr>
              <a:t>C</a:t>
            </a:r>
            <a:r>
              <a:rPr lang="en-IN" sz="2400" dirty="0" smtClean="0">
                <a:latin typeface="Verdana" panose="020B0604030504040204" pitchFamily="34" charset="0"/>
                <a:ea typeface="Verdana" panose="020B0604030504040204" pitchFamily="34" charset="0"/>
              </a:rPr>
              <a:t>ontext level diagram shows an overall view of the system under development. It is single high level process which shows the relationship that the system has with other external entities (system, organizational group, external data stores etc.).</a:t>
            </a:r>
          </a:p>
          <a:p>
            <a:pPr algn="just"/>
            <a:endParaRPr lang="en-IN" sz="2400" dirty="0" smtClean="0">
              <a:latin typeface="Verdana" panose="020B0604030504040204" pitchFamily="34" charset="0"/>
              <a:ea typeface="Verdana" panose="020B0604030504040204" pitchFamily="34" charset="0"/>
            </a:endParaRPr>
          </a:p>
          <a:p>
            <a:pPr algn="just"/>
            <a:r>
              <a:rPr lang="en-IN" sz="2400" dirty="0" smtClean="0">
                <a:latin typeface="Verdana" panose="020B0604030504040204" pitchFamily="34" charset="0"/>
                <a:ea typeface="Verdana" panose="020B0604030504040204" pitchFamily="34" charset="0"/>
              </a:rPr>
              <a:t>Another name Context Diagram is Context level data flow diagram.</a:t>
            </a:r>
          </a:p>
          <a:p>
            <a:pPr algn="just"/>
            <a:endParaRPr lang="en-IN" sz="2400" dirty="0" smtClean="0">
              <a:latin typeface="Verdana" panose="020B0604030504040204" pitchFamily="34" charset="0"/>
              <a:ea typeface="Verdana" panose="020B0604030504040204" pitchFamily="34" charset="0"/>
            </a:endParaRPr>
          </a:p>
          <a:p>
            <a:pPr algn="just"/>
            <a:r>
              <a:rPr lang="en-IN" sz="2400" dirty="0" smtClean="0">
                <a:latin typeface="Verdana" panose="020B0604030504040204" pitchFamily="34" charset="0"/>
                <a:ea typeface="Verdana" panose="020B0604030504040204" pitchFamily="34" charset="0"/>
              </a:rPr>
              <a:t>Context diagram contains single process but it plays a very important role in studying the current system.</a:t>
            </a:r>
          </a:p>
          <a:p>
            <a:pPr algn="just"/>
            <a:endParaRPr lang="en-IN" sz="2400" dirty="0" smtClean="0">
              <a:latin typeface="Verdana" panose="020B0604030504040204" pitchFamily="34" charset="0"/>
              <a:ea typeface="Verdana" panose="020B0604030504040204" pitchFamily="34" charset="0"/>
            </a:endParaRPr>
          </a:p>
          <a:p>
            <a:pPr algn="just"/>
            <a:r>
              <a:rPr lang="en-IN" sz="2400" dirty="0" smtClean="0">
                <a:latin typeface="Verdana" panose="020B0604030504040204" pitchFamily="34" charset="0"/>
                <a:ea typeface="Verdana" panose="020B0604030504040204" pitchFamily="34" charset="0"/>
              </a:rPr>
              <a:t>Context diagram clearly determines the boundaries. It contains only the main process, which can be divided into sub-process at one level lower than the parent process.</a:t>
            </a:r>
            <a:endParaRPr lang="en-IN" sz="2400" dirty="0"/>
          </a:p>
        </p:txBody>
      </p:sp>
    </p:spTree>
    <p:extLst>
      <p:ext uri="{BB962C8B-B14F-4D97-AF65-F5344CB8AC3E}">
        <p14:creationId xmlns:p14="http://schemas.microsoft.com/office/powerpoint/2010/main" val="42224461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0628"/>
            <a:ext cx="10515600" cy="587829"/>
          </a:xfrm>
        </p:spPr>
        <p:txBody>
          <a:bodyPr>
            <a:normAutofit/>
          </a:bodyPr>
          <a:lstStyle/>
          <a:p>
            <a:r>
              <a:rPr lang="en-IN" sz="2400" b="1" dirty="0">
                <a:latin typeface="Verdana" panose="020B0604030504040204" pitchFamily="34" charset="0"/>
                <a:ea typeface="Verdana" panose="020B0604030504040204" pitchFamily="34" charset="0"/>
              </a:rPr>
              <a:t>Context Analysis Diagram: </a:t>
            </a:r>
            <a:r>
              <a:rPr lang="en-IN" sz="2400" b="1" dirty="0" smtClean="0">
                <a:latin typeface="Verdana" panose="020B0604030504040204" pitchFamily="34" charset="0"/>
                <a:ea typeface="Verdana" panose="020B0604030504040204" pitchFamily="34" charset="0"/>
              </a:rPr>
              <a:t>Contd.</a:t>
            </a:r>
            <a:endParaRPr lang="en-IN" sz="2400" dirty="0"/>
          </a:p>
        </p:txBody>
      </p:sp>
      <p:cxnSp>
        <p:nvCxnSpPr>
          <p:cNvPr id="17" name="Straight Connector 16"/>
          <p:cNvCxnSpPr>
            <a:stCxn id="10" idx="2"/>
            <a:endCxn id="10" idx="2"/>
          </p:cNvCxnSpPr>
          <p:nvPr/>
        </p:nvCxnSpPr>
        <p:spPr>
          <a:xfrm>
            <a:off x="2431867" y="2174966"/>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flipV="1">
            <a:off x="2664823" y="3709851"/>
            <a:ext cx="0" cy="457202"/>
          </a:xfrm>
          <a:prstGeom prst="line">
            <a:avLst/>
          </a:prstGeom>
        </p:spPr>
        <p:style>
          <a:lnRef idx="3">
            <a:schemeClr val="dk1"/>
          </a:lnRef>
          <a:fillRef idx="0">
            <a:schemeClr val="dk1"/>
          </a:fillRef>
          <a:effectRef idx="2">
            <a:schemeClr val="dk1"/>
          </a:effectRef>
          <a:fontRef idx="minor">
            <a:schemeClr val="tx1"/>
          </a:fontRef>
        </p:style>
      </p:cxnSp>
      <p:grpSp>
        <p:nvGrpSpPr>
          <p:cNvPr id="95" name="Group 94"/>
          <p:cNvGrpSpPr/>
          <p:nvPr/>
        </p:nvGrpSpPr>
        <p:grpSpPr>
          <a:xfrm>
            <a:off x="1523998" y="1456509"/>
            <a:ext cx="9644745" cy="4046526"/>
            <a:chOff x="1523998" y="1456509"/>
            <a:chExt cx="9644745" cy="4046526"/>
          </a:xfrm>
        </p:grpSpPr>
        <p:grpSp>
          <p:nvGrpSpPr>
            <p:cNvPr id="93" name="Group 92"/>
            <p:cNvGrpSpPr/>
            <p:nvPr/>
          </p:nvGrpSpPr>
          <p:grpSpPr>
            <a:xfrm>
              <a:off x="1523998" y="1456509"/>
              <a:ext cx="9644745" cy="3429001"/>
              <a:chOff x="1523998" y="1456509"/>
              <a:chExt cx="9644745" cy="3429001"/>
            </a:xfrm>
          </p:grpSpPr>
          <p:sp>
            <p:nvSpPr>
              <p:cNvPr id="4" name="Oval 3"/>
              <p:cNvSpPr/>
              <p:nvPr/>
            </p:nvSpPr>
            <p:spPr>
              <a:xfrm>
                <a:off x="5706291" y="2181497"/>
                <a:ext cx="2168434" cy="1985556"/>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IN" dirty="0" smtClean="0"/>
                  <a:t>Payroll System</a:t>
                </a:r>
                <a:endParaRPr lang="en-IN" dirty="0"/>
              </a:p>
            </p:txBody>
          </p:sp>
          <p:cxnSp>
            <p:nvCxnSpPr>
              <p:cNvPr id="6" name="Straight Arrow Connector 5"/>
              <p:cNvCxnSpPr>
                <a:stCxn id="4" idx="6"/>
              </p:cNvCxnSpPr>
              <p:nvPr/>
            </p:nvCxnSpPr>
            <p:spPr>
              <a:xfrm>
                <a:off x="7874725" y="3174275"/>
                <a:ext cx="145215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7" name="Rectangle 6"/>
              <p:cNvSpPr/>
              <p:nvPr/>
            </p:nvSpPr>
            <p:spPr>
              <a:xfrm>
                <a:off x="9353006" y="2821580"/>
                <a:ext cx="1815737" cy="718457"/>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IN" dirty="0" smtClean="0"/>
                  <a:t>Bank</a:t>
                </a:r>
                <a:endParaRPr lang="en-IN" dirty="0"/>
              </a:p>
            </p:txBody>
          </p:sp>
          <p:sp>
            <p:nvSpPr>
              <p:cNvPr id="10" name="Rectangle 9"/>
              <p:cNvSpPr/>
              <p:nvPr/>
            </p:nvSpPr>
            <p:spPr>
              <a:xfrm>
                <a:off x="1523998" y="1456509"/>
                <a:ext cx="1815737" cy="718457"/>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IN" dirty="0" smtClean="0"/>
                  <a:t>Employees</a:t>
                </a:r>
                <a:endParaRPr lang="en-IN" dirty="0"/>
              </a:p>
            </p:txBody>
          </p:sp>
          <p:sp>
            <p:nvSpPr>
              <p:cNvPr id="11" name="Rectangle 10"/>
              <p:cNvSpPr/>
              <p:nvPr/>
            </p:nvSpPr>
            <p:spPr>
              <a:xfrm>
                <a:off x="1523999" y="4167053"/>
                <a:ext cx="1815737" cy="718457"/>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IN" dirty="0" smtClean="0"/>
                  <a:t>Account Department</a:t>
                </a:r>
                <a:endParaRPr lang="en-IN" dirty="0"/>
              </a:p>
            </p:txBody>
          </p:sp>
          <p:cxnSp>
            <p:nvCxnSpPr>
              <p:cNvPr id="21" name="Straight Connector 20"/>
              <p:cNvCxnSpPr/>
              <p:nvPr/>
            </p:nvCxnSpPr>
            <p:spPr>
              <a:xfrm>
                <a:off x="2664823" y="2168434"/>
                <a:ext cx="0" cy="470264"/>
              </a:xfrm>
              <a:prstGeom prst="line">
                <a:avLst/>
              </a:prstGeom>
            </p:spPr>
            <p:style>
              <a:lnRef idx="3">
                <a:schemeClr val="dk1"/>
              </a:lnRef>
              <a:fillRef idx="0">
                <a:schemeClr val="dk1"/>
              </a:fillRef>
              <a:effectRef idx="2">
                <a:schemeClr val="dk1"/>
              </a:effectRef>
              <a:fontRef idx="minor">
                <a:schemeClr val="tx1"/>
              </a:fontRef>
            </p:style>
          </p:cxnSp>
          <p:cxnSp>
            <p:nvCxnSpPr>
              <p:cNvPr id="23" name="Straight Arrow Connector 22"/>
              <p:cNvCxnSpPr/>
              <p:nvPr/>
            </p:nvCxnSpPr>
            <p:spPr>
              <a:xfrm>
                <a:off x="2664823" y="2638698"/>
                <a:ext cx="315468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7" name="Straight Connector 26"/>
              <p:cNvCxnSpPr/>
              <p:nvPr/>
            </p:nvCxnSpPr>
            <p:spPr>
              <a:xfrm flipH="1">
                <a:off x="2063931" y="2913017"/>
                <a:ext cx="3631475" cy="0"/>
              </a:xfrm>
              <a:prstGeom prst="line">
                <a:avLst/>
              </a:prstGeom>
            </p:spPr>
            <p:style>
              <a:lnRef idx="3">
                <a:schemeClr val="dk1"/>
              </a:lnRef>
              <a:fillRef idx="0">
                <a:schemeClr val="dk1"/>
              </a:fillRef>
              <a:effectRef idx="2">
                <a:schemeClr val="dk1"/>
              </a:effectRef>
              <a:fontRef idx="minor">
                <a:schemeClr val="tx1"/>
              </a:fontRef>
            </p:style>
          </p:cxnSp>
          <p:cxnSp>
            <p:nvCxnSpPr>
              <p:cNvPr id="29" name="Straight Arrow Connector 28"/>
              <p:cNvCxnSpPr/>
              <p:nvPr/>
            </p:nvCxnSpPr>
            <p:spPr>
              <a:xfrm flipV="1">
                <a:off x="2074816" y="2226399"/>
                <a:ext cx="13608" cy="68662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3" name="Straight Arrow Connector 32"/>
              <p:cNvCxnSpPr/>
              <p:nvPr/>
            </p:nvCxnSpPr>
            <p:spPr>
              <a:xfrm flipV="1">
                <a:off x="2664823" y="3709851"/>
                <a:ext cx="3154680" cy="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7" name="Straight Connector 56"/>
              <p:cNvCxnSpPr/>
              <p:nvPr/>
            </p:nvCxnSpPr>
            <p:spPr>
              <a:xfrm flipH="1">
                <a:off x="2090057" y="3370218"/>
                <a:ext cx="3605349" cy="0"/>
              </a:xfrm>
              <a:prstGeom prst="line">
                <a:avLst/>
              </a:prstGeom>
            </p:spPr>
            <p:style>
              <a:lnRef idx="3">
                <a:schemeClr val="dk1"/>
              </a:lnRef>
              <a:fillRef idx="0">
                <a:schemeClr val="dk1"/>
              </a:fillRef>
              <a:effectRef idx="2">
                <a:schemeClr val="dk1"/>
              </a:effectRef>
              <a:fontRef idx="minor">
                <a:schemeClr val="tx1"/>
              </a:fontRef>
            </p:style>
          </p:cxnSp>
          <p:cxnSp>
            <p:nvCxnSpPr>
              <p:cNvPr id="59" name="Straight Arrow Connector 58"/>
              <p:cNvCxnSpPr/>
              <p:nvPr/>
            </p:nvCxnSpPr>
            <p:spPr>
              <a:xfrm>
                <a:off x="2090057" y="3370218"/>
                <a:ext cx="0" cy="79683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94" name="TextBox 93"/>
            <p:cNvSpPr txBox="1"/>
            <p:nvPr/>
          </p:nvSpPr>
          <p:spPr>
            <a:xfrm>
              <a:off x="4924696" y="5133703"/>
              <a:ext cx="3461657" cy="369332"/>
            </a:xfrm>
            <a:prstGeom prst="rect">
              <a:avLst/>
            </a:prstGeom>
            <a:noFill/>
          </p:spPr>
          <p:txBody>
            <a:bodyPr wrap="square" rtlCol="0">
              <a:spAutoFit/>
            </a:bodyPr>
            <a:lstStyle/>
            <a:p>
              <a:r>
                <a:rPr lang="en-IN" dirty="0" smtClean="0"/>
                <a:t>Context Diagram of Payroll system</a:t>
              </a:r>
              <a:endParaRPr lang="en-IN" dirty="0"/>
            </a:p>
          </p:txBody>
        </p:sp>
      </p:grpSp>
    </p:spTree>
    <p:extLst>
      <p:ext uri="{BB962C8B-B14F-4D97-AF65-F5344CB8AC3E}">
        <p14:creationId xmlns:p14="http://schemas.microsoft.com/office/powerpoint/2010/main" val="38346109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4504"/>
            <a:ext cx="10515600" cy="640080"/>
          </a:xfrm>
        </p:spPr>
        <p:txBody>
          <a:bodyPr>
            <a:normAutofit/>
          </a:bodyPr>
          <a:lstStyle/>
          <a:p>
            <a:pPr algn="ctr"/>
            <a:r>
              <a:rPr lang="en-US" sz="3600" b="1" dirty="0" smtClean="0">
                <a:latin typeface="Verdana" panose="020B0604030504040204" pitchFamily="34" charset="0"/>
                <a:ea typeface="Verdana" panose="020B0604030504040204" pitchFamily="34" charset="0"/>
              </a:rPr>
              <a:t>Data Flow Diagram (DFD)</a:t>
            </a:r>
            <a:endParaRPr lang="en-IN" sz="3600" b="1" dirty="0">
              <a:latin typeface="Verdana" panose="020B0604030504040204" pitchFamily="34" charset="0"/>
              <a:ea typeface="Verdana" panose="020B0604030504040204" pitchFamily="34" charset="0"/>
            </a:endParaRPr>
          </a:p>
        </p:txBody>
      </p:sp>
      <p:sp>
        <p:nvSpPr>
          <p:cNvPr id="3" name="Content Placeholder 2"/>
          <p:cNvSpPr>
            <a:spLocks noGrp="1"/>
          </p:cNvSpPr>
          <p:nvPr>
            <p:ph idx="1"/>
          </p:nvPr>
        </p:nvSpPr>
        <p:spPr>
          <a:xfrm>
            <a:off x="838200" y="992776"/>
            <a:ext cx="10515600" cy="5708469"/>
          </a:xfrm>
        </p:spPr>
        <p:txBody>
          <a:bodyPr>
            <a:normAutofit fontScale="85000" lnSpcReduction="10000"/>
          </a:bodyPr>
          <a:lstStyle/>
          <a:p>
            <a:pPr algn="just"/>
            <a:r>
              <a:rPr lang="en-US" dirty="0" smtClean="0">
                <a:latin typeface="Verdana" panose="020B0604030504040204" pitchFamily="34" charset="0"/>
                <a:ea typeface="Verdana" panose="020B0604030504040204" pitchFamily="34" charset="0"/>
              </a:rPr>
              <a:t>A data-flow diagram (DFD) is a graphical representation of the "flow" of data through an information system. DFDs can also be used for the visualization of data processing (structured design). </a:t>
            </a:r>
          </a:p>
          <a:p>
            <a:pPr algn="just"/>
            <a:endParaRPr lang="en-US" dirty="0">
              <a:latin typeface="Verdana" panose="020B0604030504040204" pitchFamily="34" charset="0"/>
              <a:ea typeface="Verdana" panose="020B0604030504040204" pitchFamily="34" charset="0"/>
            </a:endParaRPr>
          </a:p>
          <a:p>
            <a:pPr algn="just"/>
            <a:r>
              <a:rPr lang="en-US" dirty="0" smtClean="0">
                <a:latin typeface="Verdana" panose="020B0604030504040204" pitchFamily="34" charset="0"/>
                <a:ea typeface="Verdana" panose="020B0604030504040204" pitchFamily="34" charset="0"/>
              </a:rPr>
              <a:t>On a DFD, data items flow from an external data source or an internal data store to an internal data store or an external data sink, via an internal process. </a:t>
            </a:r>
          </a:p>
          <a:p>
            <a:pPr algn="just"/>
            <a:endParaRPr lang="en-US" dirty="0">
              <a:latin typeface="Verdana" panose="020B0604030504040204" pitchFamily="34" charset="0"/>
              <a:ea typeface="Verdana" panose="020B0604030504040204" pitchFamily="34" charset="0"/>
            </a:endParaRPr>
          </a:p>
          <a:p>
            <a:pPr algn="just"/>
            <a:r>
              <a:rPr lang="en-US" dirty="0" smtClean="0">
                <a:latin typeface="Verdana" panose="020B0604030504040204" pitchFamily="34" charset="0"/>
                <a:ea typeface="Verdana" panose="020B0604030504040204" pitchFamily="34" charset="0"/>
              </a:rPr>
              <a:t>A DFD provides no information about the timing of processes, or about whether processes will operate in sequence or in parallel. It is therefore quite different from a flowchart, which shows the flow of control through an algorithm, allowing a reader to determine what operations will be performed, in what order, and under what circumstances, but not what kinds of data will be input to and output from the system, nor where the data will come from and go to, nor where the data will be stored (all of which are shown on a DFD).</a:t>
            </a:r>
            <a:endParaRPr lang="en-IN"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5805342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1440"/>
            <a:ext cx="10515600" cy="535577"/>
          </a:xfrm>
        </p:spPr>
        <p:txBody>
          <a:bodyPr>
            <a:noAutofit/>
          </a:bodyPr>
          <a:lstStyle/>
          <a:p>
            <a:pPr algn="ctr"/>
            <a:r>
              <a:rPr lang="en-US" sz="3600" b="1" dirty="0" smtClean="0">
                <a:latin typeface="Verdana" panose="020B0604030504040204" pitchFamily="34" charset="0"/>
                <a:ea typeface="Verdana" panose="020B0604030504040204" pitchFamily="34" charset="0"/>
              </a:rPr>
              <a:t>Why DFD?</a:t>
            </a:r>
            <a:endParaRPr lang="en-IN" sz="3600" b="1" dirty="0">
              <a:latin typeface="Verdana" panose="020B0604030504040204" pitchFamily="34" charset="0"/>
              <a:ea typeface="Verdana" panose="020B0604030504040204" pitchFamily="34" charset="0"/>
            </a:endParaRPr>
          </a:p>
        </p:txBody>
      </p:sp>
      <p:sp>
        <p:nvSpPr>
          <p:cNvPr id="3" name="Content Placeholder 2"/>
          <p:cNvSpPr>
            <a:spLocks noGrp="1"/>
          </p:cNvSpPr>
          <p:nvPr>
            <p:ph idx="1"/>
          </p:nvPr>
        </p:nvSpPr>
        <p:spPr>
          <a:xfrm>
            <a:off x="838200" y="836023"/>
            <a:ext cx="10515600" cy="5904410"/>
          </a:xfrm>
        </p:spPr>
        <p:txBody>
          <a:bodyPr>
            <a:normAutofit/>
          </a:bodyPr>
          <a:lstStyle/>
          <a:p>
            <a:pPr algn="just"/>
            <a:r>
              <a:rPr lang="en-US" sz="2400" b="1" dirty="0" smtClean="0">
                <a:latin typeface="Verdana" panose="020B0604030504040204" pitchFamily="34" charset="0"/>
                <a:ea typeface="Verdana" panose="020B0604030504040204" pitchFamily="34" charset="0"/>
              </a:rPr>
              <a:t>Provides an overview of- </a:t>
            </a:r>
          </a:p>
          <a:p>
            <a:pPr lvl="1" algn="just"/>
            <a:r>
              <a:rPr lang="en-US" dirty="0" smtClean="0">
                <a:latin typeface="Verdana" panose="020B0604030504040204" pitchFamily="34" charset="0"/>
                <a:ea typeface="Verdana" panose="020B0604030504040204" pitchFamily="34" charset="0"/>
              </a:rPr>
              <a:t>What data a system process </a:t>
            </a:r>
          </a:p>
          <a:p>
            <a:pPr lvl="1" algn="just"/>
            <a:r>
              <a:rPr lang="en-US" dirty="0" smtClean="0">
                <a:latin typeface="Verdana" panose="020B0604030504040204" pitchFamily="34" charset="0"/>
                <a:ea typeface="Verdana" panose="020B0604030504040204" pitchFamily="34" charset="0"/>
              </a:rPr>
              <a:t> What transformations are performed </a:t>
            </a:r>
          </a:p>
          <a:p>
            <a:pPr lvl="1" algn="just"/>
            <a:r>
              <a:rPr lang="en-US" dirty="0" smtClean="0">
                <a:latin typeface="Verdana" panose="020B0604030504040204" pitchFamily="34" charset="0"/>
                <a:ea typeface="Verdana" panose="020B0604030504040204" pitchFamily="34" charset="0"/>
              </a:rPr>
              <a:t> What data are stored </a:t>
            </a:r>
          </a:p>
          <a:p>
            <a:pPr lvl="1" algn="just"/>
            <a:r>
              <a:rPr lang="en-US" dirty="0" smtClean="0">
                <a:latin typeface="Verdana" panose="020B0604030504040204" pitchFamily="34" charset="0"/>
                <a:ea typeface="Verdana" panose="020B0604030504040204" pitchFamily="34" charset="0"/>
              </a:rPr>
              <a:t> What results are produced and where they flow </a:t>
            </a:r>
          </a:p>
          <a:p>
            <a:pPr lvl="1" algn="just"/>
            <a:endParaRPr lang="en-US" dirty="0">
              <a:latin typeface="Verdana" panose="020B0604030504040204" pitchFamily="34" charset="0"/>
              <a:ea typeface="Verdana" panose="020B0604030504040204" pitchFamily="34" charset="0"/>
            </a:endParaRPr>
          </a:p>
          <a:p>
            <a:pPr marL="457200" lvl="1" indent="0" algn="just">
              <a:buNone/>
            </a:pPr>
            <a:endParaRPr lang="en-US" dirty="0" smtClean="0">
              <a:latin typeface="Verdana" panose="020B0604030504040204" pitchFamily="34" charset="0"/>
              <a:ea typeface="Verdana" panose="020B0604030504040204" pitchFamily="34" charset="0"/>
            </a:endParaRPr>
          </a:p>
          <a:p>
            <a:pPr algn="just"/>
            <a:r>
              <a:rPr lang="en-US" b="1" dirty="0" smtClean="0">
                <a:latin typeface="Verdana" panose="020B0604030504040204" pitchFamily="34" charset="0"/>
                <a:ea typeface="Verdana" panose="020B0604030504040204" pitchFamily="34" charset="0"/>
              </a:rPr>
              <a:t>Graphical nature makes it a good communication tool </a:t>
            </a:r>
          </a:p>
          <a:p>
            <a:pPr lvl="1" algn="just"/>
            <a:r>
              <a:rPr lang="en-US" dirty="0" smtClean="0">
                <a:latin typeface="Verdana" panose="020B0604030504040204" pitchFamily="34" charset="0"/>
                <a:ea typeface="Verdana" panose="020B0604030504040204" pitchFamily="34" charset="0"/>
              </a:rPr>
              <a:t> User and analyst </a:t>
            </a:r>
          </a:p>
          <a:p>
            <a:pPr lvl="1" algn="just"/>
            <a:r>
              <a:rPr lang="en-US" dirty="0" smtClean="0">
                <a:latin typeface="Verdana" panose="020B0604030504040204" pitchFamily="34" charset="0"/>
                <a:ea typeface="Verdana" panose="020B0604030504040204" pitchFamily="34" charset="0"/>
              </a:rPr>
              <a:t> Analyst and System designer</a:t>
            </a:r>
            <a:endParaRPr lang="en-IN"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8964533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1441"/>
            <a:ext cx="10515600" cy="613953"/>
          </a:xfrm>
        </p:spPr>
        <p:txBody>
          <a:bodyPr>
            <a:normAutofit/>
          </a:bodyPr>
          <a:lstStyle/>
          <a:p>
            <a:pPr algn="ctr"/>
            <a:r>
              <a:rPr lang="en-US" sz="3200" b="1" smtClean="0">
                <a:latin typeface="Verdana" panose="020B0604030504040204" pitchFamily="34" charset="0"/>
                <a:ea typeface="Verdana" panose="020B0604030504040204" pitchFamily="34" charset="0"/>
              </a:rPr>
              <a:t>Rules For Constructing </a:t>
            </a:r>
            <a:r>
              <a:rPr lang="en-US" sz="3200" b="1" dirty="0" smtClean="0">
                <a:latin typeface="Verdana" panose="020B0604030504040204" pitchFamily="34" charset="0"/>
                <a:ea typeface="Verdana" panose="020B0604030504040204" pitchFamily="34" charset="0"/>
              </a:rPr>
              <a:t>a DFD</a:t>
            </a:r>
            <a:endParaRPr lang="en-IN" sz="3200" b="1" dirty="0">
              <a:latin typeface="Verdana" panose="020B0604030504040204" pitchFamily="34" charset="0"/>
              <a:ea typeface="Verdana" panose="020B0604030504040204" pitchFamily="34" charset="0"/>
            </a:endParaRPr>
          </a:p>
        </p:txBody>
      </p:sp>
      <p:sp>
        <p:nvSpPr>
          <p:cNvPr id="3" name="Content Placeholder 2"/>
          <p:cNvSpPr>
            <a:spLocks noGrp="1"/>
          </p:cNvSpPr>
          <p:nvPr>
            <p:ph idx="1"/>
          </p:nvPr>
        </p:nvSpPr>
        <p:spPr>
          <a:xfrm>
            <a:off x="838200" y="705394"/>
            <a:ext cx="10515600" cy="6048103"/>
          </a:xfrm>
        </p:spPr>
        <p:txBody>
          <a:bodyPr>
            <a:normAutofit fontScale="77500" lnSpcReduction="20000"/>
          </a:bodyPr>
          <a:lstStyle/>
          <a:p>
            <a:pPr marL="0" indent="0" algn="just">
              <a:buNone/>
            </a:pPr>
            <a:r>
              <a:rPr lang="en-US" sz="2400" b="1" dirty="0" smtClean="0">
                <a:latin typeface="Verdana" panose="020B0604030504040204" pitchFamily="34" charset="0"/>
                <a:ea typeface="Verdana" panose="020B0604030504040204" pitchFamily="34" charset="0"/>
              </a:rPr>
              <a:t>Several </a:t>
            </a:r>
            <a:r>
              <a:rPr lang="en-US" sz="2400" b="1" dirty="0" smtClean="0">
                <a:latin typeface="Verdana" panose="020B0604030504040204" pitchFamily="34" charset="0"/>
                <a:ea typeface="Verdana" panose="020B0604030504040204" pitchFamily="34" charset="0"/>
              </a:rPr>
              <a:t>rules </a:t>
            </a:r>
            <a:r>
              <a:rPr lang="en-US" sz="2400" b="1" dirty="0" smtClean="0">
                <a:latin typeface="Verdana" panose="020B0604030504040204" pitchFamily="34" charset="0"/>
                <a:ea typeface="Verdana" panose="020B0604030504040204" pitchFamily="34" charset="0"/>
              </a:rPr>
              <a:t>are used in drawing DFDs.</a:t>
            </a:r>
          </a:p>
          <a:p>
            <a:pPr marL="0" indent="0" algn="just">
              <a:buNone/>
            </a:pPr>
            <a:r>
              <a:rPr lang="en-US" dirty="0" smtClean="0">
                <a:latin typeface="Verdana" panose="020B0604030504040204" pitchFamily="34" charset="0"/>
                <a:ea typeface="Verdana" panose="020B0604030504040204" pitchFamily="34" charset="0"/>
              </a:rPr>
              <a:t> </a:t>
            </a:r>
          </a:p>
          <a:p>
            <a:pPr marL="514350" indent="-514350" algn="just">
              <a:buAutoNum type="arabicPeriod"/>
            </a:pPr>
            <a:r>
              <a:rPr lang="en-US" dirty="0" smtClean="0">
                <a:latin typeface="Verdana" panose="020B0604030504040204" pitchFamily="34" charset="0"/>
                <a:ea typeface="Verdana" panose="020B0604030504040204" pitchFamily="34" charset="0"/>
              </a:rPr>
              <a:t>Process should be named and numbered for easy reference. Each name should be representative of the process. </a:t>
            </a:r>
          </a:p>
          <a:p>
            <a:pPr marL="514350" indent="-514350" algn="just">
              <a:buAutoNum type="arabicPeriod"/>
            </a:pPr>
            <a:endParaRPr lang="en-US" dirty="0" smtClean="0">
              <a:latin typeface="Verdana" panose="020B0604030504040204" pitchFamily="34" charset="0"/>
              <a:ea typeface="Verdana" panose="020B0604030504040204" pitchFamily="34" charset="0"/>
            </a:endParaRPr>
          </a:p>
          <a:p>
            <a:pPr marL="514350" indent="-514350" algn="just">
              <a:buAutoNum type="arabicPeriod"/>
            </a:pPr>
            <a:r>
              <a:rPr lang="en-US" dirty="0" smtClean="0">
                <a:latin typeface="Verdana" panose="020B0604030504040204" pitchFamily="34" charset="0"/>
                <a:ea typeface="Verdana" panose="020B0604030504040204" pitchFamily="34" charset="0"/>
              </a:rPr>
              <a:t>The direction of flow is from top to bottom and from left to right. Data traditionally flow from the source (upper left corner) to the destination (lower right corner), although they may flow back to a source. One way to indicate this is to draw a long flow line back to the source. An alternative way is to repeat the source symbol as a destination. Since it is used more than one in the DFD, it is marked with a short diagonal in the lower right corner. </a:t>
            </a:r>
          </a:p>
          <a:p>
            <a:pPr marL="514350" indent="-514350" algn="just">
              <a:buAutoNum type="arabicPeriod"/>
            </a:pPr>
            <a:endParaRPr lang="en-US" dirty="0" smtClean="0">
              <a:latin typeface="Verdana" panose="020B0604030504040204" pitchFamily="34" charset="0"/>
              <a:ea typeface="Verdana" panose="020B0604030504040204" pitchFamily="34" charset="0"/>
            </a:endParaRPr>
          </a:p>
          <a:p>
            <a:pPr marL="514350" indent="-514350" algn="just">
              <a:buAutoNum type="arabicPeriod"/>
            </a:pPr>
            <a:r>
              <a:rPr lang="en-US" dirty="0" smtClean="0">
                <a:latin typeface="Verdana" panose="020B0604030504040204" pitchFamily="34" charset="0"/>
                <a:ea typeface="Verdana" panose="020B0604030504040204" pitchFamily="34" charset="0"/>
              </a:rPr>
              <a:t>When a process is exploded into lower- level details, they are numbered.</a:t>
            </a:r>
          </a:p>
          <a:p>
            <a:pPr marL="514350" indent="-514350" algn="just">
              <a:buAutoNum type="arabicPeriod"/>
            </a:pPr>
            <a:endParaRPr lang="en-US" dirty="0" smtClean="0">
              <a:latin typeface="Verdana" panose="020B0604030504040204" pitchFamily="34" charset="0"/>
              <a:ea typeface="Verdana" panose="020B0604030504040204" pitchFamily="34" charset="0"/>
            </a:endParaRPr>
          </a:p>
          <a:p>
            <a:pPr marL="514350" indent="-514350" algn="just">
              <a:buAutoNum type="arabicPeriod"/>
            </a:pPr>
            <a:r>
              <a:rPr lang="en-US" dirty="0" smtClean="0">
                <a:latin typeface="Verdana" panose="020B0604030504040204" pitchFamily="34" charset="0"/>
                <a:ea typeface="Verdana" panose="020B0604030504040204" pitchFamily="34" charset="0"/>
              </a:rPr>
              <a:t>The names of data stores, sources and destinations are written in capital letters. Process and data flow names have the first letter of each word capitalized.</a:t>
            </a:r>
            <a:endParaRPr lang="en-IN"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4270396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7567"/>
            <a:ext cx="10515600" cy="574764"/>
          </a:xfrm>
        </p:spPr>
        <p:txBody>
          <a:bodyPr>
            <a:noAutofit/>
          </a:bodyPr>
          <a:lstStyle/>
          <a:p>
            <a:r>
              <a:rPr lang="en-US" sz="3600" b="1" dirty="0" smtClean="0">
                <a:latin typeface="Verdana" panose="020B0604030504040204" pitchFamily="34" charset="0"/>
                <a:ea typeface="Verdana" panose="020B0604030504040204" pitchFamily="34" charset="0"/>
              </a:rPr>
              <a:t>How to develop Data Flow Diagram?</a:t>
            </a:r>
            <a:endParaRPr lang="en-IN" sz="3600" b="1" dirty="0">
              <a:latin typeface="Verdana" panose="020B0604030504040204" pitchFamily="34" charset="0"/>
              <a:ea typeface="Verdana" panose="020B0604030504040204" pitchFamily="34" charset="0"/>
            </a:endParaRPr>
          </a:p>
        </p:txBody>
      </p:sp>
      <p:sp>
        <p:nvSpPr>
          <p:cNvPr id="3" name="Content Placeholder 2"/>
          <p:cNvSpPr>
            <a:spLocks noGrp="1"/>
          </p:cNvSpPr>
          <p:nvPr>
            <p:ph idx="1"/>
          </p:nvPr>
        </p:nvSpPr>
        <p:spPr>
          <a:xfrm>
            <a:off x="838200" y="692330"/>
            <a:ext cx="10515600" cy="6074229"/>
          </a:xfrm>
        </p:spPr>
        <p:txBody>
          <a:bodyPr>
            <a:normAutofit fontScale="85000" lnSpcReduction="20000"/>
          </a:bodyPr>
          <a:lstStyle/>
          <a:p>
            <a:pPr marL="0" indent="0" algn="just">
              <a:buNone/>
            </a:pPr>
            <a:r>
              <a:rPr lang="en-US" b="1" dirty="0" smtClean="0">
                <a:latin typeface="Verdana" panose="020B0604030504040204" pitchFamily="34" charset="0"/>
                <a:ea typeface="Verdana" panose="020B0604030504040204" pitchFamily="34" charset="0"/>
              </a:rPr>
              <a:t>Top-down approach: </a:t>
            </a:r>
          </a:p>
          <a:p>
            <a:pPr marL="0" indent="0" algn="just">
              <a:buNone/>
            </a:pPr>
            <a:endParaRPr lang="en-US" dirty="0" smtClean="0">
              <a:latin typeface="Verdana" panose="020B0604030504040204" pitchFamily="34" charset="0"/>
              <a:ea typeface="Verdana" panose="020B0604030504040204" pitchFamily="34" charset="0"/>
            </a:endParaRPr>
          </a:p>
          <a:p>
            <a:pPr marL="514350" indent="-514350" algn="just">
              <a:buAutoNum type="arabicPeriod"/>
            </a:pPr>
            <a:r>
              <a:rPr lang="en-US" dirty="0" smtClean="0">
                <a:latin typeface="Verdana" panose="020B0604030504040204" pitchFamily="34" charset="0"/>
                <a:ea typeface="Verdana" panose="020B0604030504040204" pitchFamily="34" charset="0"/>
              </a:rPr>
              <a:t>The system designer makes a context level DFD or Level 0, which shows the "interaction" (data flows) between "the system“ (represented by one process) and "the system environment“ (represented by terminators). </a:t>
            </a:r>
          </a:p>
          <a:p>
            <a:pPr marL="514350" indent="-514350" algn="just">
              <a:buAutoNum type="arabicPeriod"/>
            </a:pPr>
            <a:endParaRPr lang="en-US" dirty="0" smtClean="0">
              <a:latin typeface="Verdana" panose="020B0604030504040204" pitchFamily="34" charset="0"/>
              <a:ea typeface="Verdana" panose="020B0604030504040204" pitchFamily="34" charset="0"/>
            </a:endParaRPr>
          </a:p>
          <a:p>
            <a:pPr marL="514350" indent="-514350" algn="just">
              <a:buAutoNum type="arabicPeriod"/>
            </a:pPr>
            <a:r>
              <a:rPr lang="en-US" dirty="0" smtClean="0">
                <a:latin typeface="Verdana" panose="020B0604030504040204" pitchFamily="34" charset="0"/>
                <a:ea typeface="Verdana" panose="020B0604030504040204" pitchFamily="34" charset="0"/>
              </a:rPr>
              <a:t>The system is "decomposed in lower-level DFD (Level 1)" into a set of "processes, data stores, and the data flows between these processes and data stores". </a:t>
            </a:r>
          </a:p>
          <a:p>
            <a:pPr marL="514350" indent="-514350" algn="just">
              <a:buAutoNum type="arabicPeriod"/>
            </a:pPr>
            <a:endParaRPr lang="en-US" dirty="0" smtClean="0">
              <a:latin typeface="Verdana" panose="020B0604030504040204" pitchFamily="34" charset="0"/>
              <a:ea typeface="Verdana" panose="020B0604030504040204" pitchFamily="34" charset="0"/>
            </a:endParaRPr>
          </a:p>
          <a:p>
            <a:pPr marL="514350" indent="-514350" algn="just">
              <a:buAutoNum type="arabicPeriod"/>
            </a:pPr>
            <a:r>
              <a:rPr lang="en-US" dirty="0" smtClean="0">
                <a:latin typeface="Verdana" panose="020B0604030504040204" pitchFamily="34" charset="0"/>
                <a:ea typeface="Verdana" panose="020B0604030504040204" pitchFamily="34" charset="0"/>
              </a:rPr>
              <a:t>Each process is then decomposed into an "even-lower-level diagram containing its sub processes". </a:t>
            </a:r>
          </a:p>
          <a:p>
            <a:pPr marL="514350" indent="-514350" algn="just">
              <a:buAutoNum type="arabicPeriod"/>
            </a:pPr>
            <a:endParaRPr lang="en-US" dirty="0" smtClean="0">
              <a:latin typeface="Verdana" panose="020B0604030504040204" pitchFamily="34" charset="0"/>
              <a:ea typeface="Verdana" panose="020B0604030504040204" pitchFamily="34" charset="0"/>
            </a:endParaRPr>
          </a:p>
          <a:p>
            <a:pPr marL="514350" indent="-514350" algn="just">
              <a:buAutoNum type="arabicPeriod"/>
            </a:pPr>
            <a:r>
              <a:rPr lang="en-US" dirty="0" smtClean="0">
                <a:latin typeface="Verdana" panose="020B0604030504040204" pitchFamily="34" charset="0"/>
                <a:ea typeface="Verdana" panose="020B0604030504040204" pitchFamily="34" charset="0"/>
              </a:rPr>
              <a:t>This approach "then continues on the subsequent sub processes", until a necessary and sufficient level of detail is reached which is called the primitive process (aka chewable in one bite)</a:t>
            </a:r>
            <a:endParaRPr lang="en-IN"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0410855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4503"/>
            <a:ext cx="10515600" cy="600891"/>
          </a:xfrm>
        </p:spPr>
        <p:txBody>
          <a:bodyPr>
            <a:normAutofit/>
          </a:bodyPr>
          <a:lstStyle/>
          <a:p>
            <a:r>
              <a:rPr lang="en-US" sz="3600" b="1" dirty="0" smtClean="0">
                <a:latin typeface="Verdana" panose="020B0604030504040204" pitchFamily="34" charset="0"/>
                <a:ea typeface="Verdana" panose="020B0604030504040204" pitchFamily="34" charset="0"/>
              </a:rPr>
              <a:t>Diagram: Example of DFD flow</a:t>
            </a:r>
            <a:endParaRPr lang="en-IN" sz="3600" b="1" dirty="0">
              <a:latin typeface="Verdana" panose="020B0604030504040204" pitchFamily="34" charset="0"/>
              <a:ea typeface="Verdana" panose="020B0604030504040204" pitchFamily="34" charset="0"/>
            </a:endParaRPr>
          </a:p>
        </p:txBody>
      </p:sp>
      <p:grpSp>
        <p:nvGrpSpPr>
          <p:cNvPr id="26" name="Group 25"/>
          <p:cNvGrpSpPr/>
          <p:nvPr/>
        </p:nvGrpSpPr>
        <p:grpSpPr>
          <a:xfrm>
            <a:off x="820781" y="1907172"/>
            <a:ext cx="10533018" cy="2050869"/>
            <a:chOff x="820781" y="1907172"/>
            <a:chExt cx="10533018" cy="2050869"/>
          </a:xfrm>
        </p:grpSpPr>
        <p:sp>
          <p:nvSpPr>
            <p:cNvPr id="5" name="Oval 4"/>
            <p:cNvSpPr/>
            <p:nvPr/>
          </p:nvSpPr>
          <p:spPr>
            <a:xfrm>
              <a:off x="4937759" y="1907172"/>
              <a:ext cx="2103120" cy="2050869"/>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sz="2000" b="1" dirty="0" smtClean="0">
                  <a:latin typeface="Verdana" panose="020B0604030504040204" pitchFamily="34" charset="0"/>
                  <a:ea typeface="Verdana" panose="020B0604030504040204" pitchFamily="34" charset="0"/>
                </a:rPr>
                <a:t>System</a:t>
              </a:r>
              <a:endParaRPr lang="en-IN" sz="2000" b="1" dirty="0">
                <a:latin typeface="Verdana" panose="020B0604030504040204" pitchFamily="34" charset="0"/>
                <a:ea typeface="Verdana" panose="020B0604030504040204" pitchFamily="34" charset="0"/>
              </a:endParaRPr>
            </a:p>
          </p:txBody>
        </p:sp>
        <p:cxnSp>
          <p:nvCxnSpPr>
            <p:cNvPr id="7" name="Straight Connector 6"/>
            <p:cNvCxnSpPr>
              <a:stCxn id="5" idx="6"/>
            </p:cNvCxnSpPr>
            <p:nvPr/>
          </p:nvCxnSpPr>
          <p:spPr>
            <a:xfrm flipV="1">
              <a:off x="7040879" y="2932606"/>
              <a:ext cx="888275" cy="1"/>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7929154" y="2732551"/>
              <a:ext cx="1214845" cy="400110"/>
            </a:xfrm>
            <a:prstGeom prst="rect">
              <a:avLst/>
            </a:prstGeom>
            <a:noFill/>
          </p:spPr>
          <p:txBody>
            <a:bodyPr wrap="square" rtlCol="0">
              <a:spAutoFit/>
            </a:bodyPr>
            <a:lstStyle/>
            <a:p>
              <a:pPr algn="ctr"/>
              <a:r>
                <a:rPr lang="en-IN" sz="2000" b="1" dirty="0" smtClean="0">
                  <a:latin typeface="Verdana" panose="020B0604030504040204" pitchFamily="34" charset="0"/>
                  <a:ea typeface="Verdana" panose="020B0604030504040204" pitchFamily="34" charset="0"/>
                </a:rPr>
                <a:t>Output</a:t>
              </a:r>
              <a:endParaRPr lang="en-IN" sz="2000" b="1" dirty="0">
                <a:latin typeface="Verdana" panose="020B0604030504040204" pitchFamily="34" charset="0"/>
                <a:ea typeface="Verdana" panose="020B0604030504040204" pitchFamily="34" charset="0"/>
              </a:endParaRPr>
            </a:p>
          </p:txBody>
        </p:sp>
        <p:sp>
          <p:nvSpPr>
            <p:cNvPr id="10" name="Rectangle 9"/>
            <p:cNvSpPr/>
            <p:nvPr/>
          </p:nvSpPr>
          <p:spPr>
            <a:xfrm>
              <a:off x="9705702" y="2599503"/>
              <a:ext cx="1648097" cy="66620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sz="2000" b="1" dirty="0" smtClean="0">
                  <a:latin typeface="Verdana" panose="020B0604030504040204" pitchFamily="34" charset="0"/>
                  <a:ea typeface="Verdana" panose="020B0604030504040204" pitchFamily="34" charset="0"/>
                </a:rPr>
                <a:t>Customer</a:t>
              </a:r>
              <a:endParaRPr lang="en-IN" sz="2000" b="1" dirty="0">
                <a:latin typeface="Verdana" panose="020B0604030504040204" pitchFamily="34" charset="0"/>
                <a:ea typeface="Verdana" panose="020B0604030504040204" pitchFamily="34" charset="0"/>
              </a:endParaRPr>
            </a:p>
          </p:txBody>
        </p:sp>
        <p:cxnSp>
          <p:nvCxnSpPr>
            <p:cNvPr id="12" name="Straight Arrow Connector 11"/>
            <p:cNvCxnSpPr>
              <a:stCxn id="9" idx="3"/>
            </p:cNvCxnSpPr>
            <p:nvPr/>
          </p:nvCxnSpPr>
          <p:spPr>
            <a:xfrm>
              <a:off x="9143999" y="2932606"/>
              <a:ext cx="56170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2429691" y="2902124"/>
              <a:ext cx="687962" cy="1"/>
            </a:xfrm>
            <a:prstGeom prst="line">
              <a:avLst/>
            </a:prstGeom>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3117653" y="2702069"/>
              <a:ext cx="1214845" cy="400110"/>
            </a:xfrm>
            <a:prstGeom prst="rect">
              <a:avLst/>
            </a:prstGeom>
            <a:noFill/>
          </p:spPr>
          <p:txBody>
            <a:bodyPr wrap="square" rtlCol="0">
              <a:spAutoFit/>
            </a:bodyPr>
            <a:lstStyle/>
            <a:p>
              <a:pPr algn="ctr"/>
              <a:r>
                <a:rPr lang="en-IN" sz="2000" b="1" dirty="0" smtClean="0">
                  <a:latin typeface="Verdana" panose="020B0604030504040204" pitchFamily="34" charset="0"/>
                  <a:ea typeface="Verdana" panose="020B0604030504040204" pitchFamily="34" charset="0"/>
                </a:rPr>
                <a:t>Output</a:t>
              </a:r>
              <a:endParaRPr lang="en-IN" sz="2000" b="1" dirty="0">
                <a:latin typeface="Verdana" panose="020B0604030504040204" pitchFamily="34" charset="0"/>
                <a:ea typeface="Verdana" panose="020B0604030504040204" pitchFamily="34" charset="0"/>
              </a:endParaRPr>
            </a:p>
          </p:txBody>
        </p:sp>
        <p:cxnSp>
          <p:nvCxnSpPr>
            <p:cNvPr id="20" name="Straight Arrow Connector 19"/>
            <p:cNvCxnSpPr>
              <a:stCxn id="19" idx="3"/>
            </p:cNvCxnSpPr>
            <p:nvPr/>
          </p:nvCxnSpPr>
          <p:spPr>
            <a:xfrm>
              <a:off x="4332498" y="2902124"/>
              <a:ext cx="56170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838200" y="2690944"/>
              <a:ext cx="1547934" cy="400110"/>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r>
                <a:rPr lang="en-IN" sz="2000" b="1" dirty="0" smtClean="0">
                  <a:latin typeface="Verdana" panose="020B0604030504040204" pitchFamily="34" charset="0"/>
                  <a:ea typeface="Verdana" panose="020B0604030504040204" pitchFamily="34" charset="0"/>
                </a:rPr>
                <a:t>Database</a:t>
              </a:r>
              <a:endParaRPr lang="en-IN" sz="2000" b="1" dirty="0">
                <a:latin typeface="Verdana" panose="020B0604030504040204" pitchFamily="34" charset="0"/>
                <a:ea typeface="Verdana" panose="020B0604030504040204" pitchFamily="34" charset="0"/>
              </a:endParaRPr>
            </a:p>
          </p:txBody>
        </p:sp>
        <p:cxnSp>
          <p:nvCxnSpPr>
            <p:cNvPr id="24" name="Straight Connector 23"/>
            <p:cNvCxnSpPr/>
            <p:nvPr/>
          </p:nvCxnSpPr>
          <p:spPr>
            <a:xfrm>
              <a:off x="838200" y="2599503"/>
              <a:ext cx="1447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820781" y="3169916"/>
              <a:ext cx="1447800" cy="0"/>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4766791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7566"/>
            <a:ext cx="10515600" cy="627018"/>
          </a:xfrm>
        </p:spPr>
        <p:txBody>
          <a:bodyPr>
            <a:normAutofit fontScale="90000"/>
          </a:bodyPr>
          <a:lstStyle/>
          <a:p>
            <a:r>
              <a:rPr lang="en-US" sz="3600" b="1" dirty="0" smtClean="0">
                <a:latin typeface="Verdana" panose="020B0604030504040204" pitchFamily="34" charset="0"/>
                <a:ea typeface="Verdana" panose="020B0604030504040204" pitchFamily="34" charset="0"/>
              </a:rPr>
              <a:t>Notation for to Draw Data Flow Diagram </a:t>
            </a:r>
            <a:endParaRPr lang="en-IN" sz="3600" b="1" dirty="0">
              <a:latin typeface="Verdana" panose="020B0604030504040204" pitchFamily="34" charset="0"/>
              <a:ea typeface="Verdana" panose="020B0604030504040204" pitchFamily="34" charset="0"/>
            </a:endParaRPr>
          </a:p>
        </p:txBody>
      </p:sp>
      <p:sp>
        <p:nvSpPr>
          <p:cNvPr id="3" name="Content Placeholder 2"/>
          <p:cNvSpPr>
            <a:spLocks noGrp="1"/>
          </p:cNvSpPr>
          <p:nvPr>
            <p:ph idx="1"/>
          </p:nvPr>
        </p:nvSpPr>
        <p:spPr>
          <a:xfrm>
            <a:off x="838200" y="744584"/>
            <a:ext cx="10515600" cy="6021976"/>
          </a:xfrm>
        </p:spPr>
        <p:txBody>
          <a:bodyPr>
            <a:normAutofit/>
          </a:bodyPr>
          <a:lstStyle/>
          <a:p>
            <a:pPr algn="just"/>
            <a:endParaRPr lang="en-US" sz="2400" dirty="0" smtClean="0">
              <a:latin typeface="Verdana" panose="020B0604030504040204" pitchFamily="34" charset="0"/>
              <a:ea typeface="Verdana" panose="020B0604030504040204" pitchFamily="34" charset="0"/>
            </a:endParaRPr>
          </a:p>
          <a:p>
            <a:pPr algn="just"/>
            <a:r>
              <a:rPr lang="en-US" sz="2400" dirty="0" smtClean="0">
                <a:latin typeface="Verdana" panose="020B0604030504040204" pitchFamily="34" charset="0"/>
                <a:ea typeface="Verdana" panose="020B0604030504040204" pitchFamily="34" charset="0"/>
              </a:rPr>
              <a:t>Data flow diagrams present the logical flow of information through a system in graphical or pictorial form. Data flow diagrams have only four symbols, which makes useful for communication between analysts and users. Data flow diagrams (DFDs) show the data used and provided by processes within a system. DFDs make use of four basic symbols.</a:t>
            </a:r>
          </a:p>
          <a:p>
            <a:pPr algn="just"/>
            <a:endParaRPr lang="en-US" sz="2400" dirty="0">
              <a:latin typeface="Verdana" panose="020B0604030504040204" pitchFamily="34" charset="0"/>
              <a:ea typeface="Verdana" panose="020B0604030504040204" pitchFamily="34" charset="0"/>
            </a:endParaRPr>
          </a:p>
          <a:p>
            <a:pPr algn="just"/>
            <a:r>
              <a:rPr lang="en-US" sz="2400" dirty="0" smtClean="0">
                <a:latin typeface="Verdana" panose="020B0604030504040204" pitchFamily="34" charset="0"/>
                <a:ea typeface="Verdana" panose="020B0604030504040204" pitchFamily="34" charset="0"/>
              </a:rPr>
              <a:t>Create structured analysis, information flow, process oriented, data-oriented, and data process diagrams as well as data flowcharts. </a:t>
            </a:r>
            <a:endParaRPr lang="en-IN" sz="24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9884631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0629"/>
            <a:ext cx="10515600" cy="574765"/>
          </a:xfrm>
        </p:spPr>
        <p:txBody>
          <a:bodyPr>
            <a:normAutofit/>
          </a:bodyPr>
          <a:lstStyle/>
          <a:p>
            <a:r>
              <a:rPr lang="en-US" sz="2800" b="1" dirty="0">
                <a:latin typeface="Verdana" panose="020B0604030504040204" pitchFamily="34" charset="0"/>
                <a:ea typeface="Verdana" panose="020B0604030504040204" pitchFamily="34" charset="0"/>
              </a:rPr>
              <a:t>Notation for to Draw Data Flow </a:t>
            </a:r>
            <a:r>
              <a:rPr lang="en-US" sz="2800" b="1" dirty="0" smtClean="0">
                <a:latin typeface="Verdana" panose="020B0604030504040204" pitchFamily="34" charset="0"/>
                <a:ea typeface="Verdana" panose="020B0604030504040204" pitchFamily="34" charset="0"/>
              </a:rPr>
              <a:t>Diagram: Contd.</a:t>
            </a:r>
            <a:endParaRPr lang="en-IN" sz="2800" dirty="0"/>
          </a:p>
        </p:txBody>
      </p:sp>
      <p:sp>
        <p:nvSpPr>
          <p:cNvPr id="3" name="Content Placeholder 2"/>
          <p:cNvSpPr>
            <a:spLocks noGrp="1"/>
          </p:cNvSpPr>
          <p:nvPr>
            <p:ph idx="1"/>
          </p:nvPr>
        </p:nvSpPr>
        <p:spPr>
          <a:xfrm>
            <a:off x="838200" y="809896"/>
            <a:ext cx="10515600" cy="6048103"/>
          </a:xfrm>
        </p:spPr>
        <p:txBody>
          <a:bodyPr>
            <a:normAutofit/>
          </a:bodyPr>
          <a:lstStyle/>
          <a:p>
            <a:pPr marL="0" indent="0" algn="just">
              <a:buNone/>
            </a:pPr>
            <a:r>
              <a:rPr lang="en-US" b="1" u="sng" dirty="0" smtClean="0">
                <a:latin typeface="Verdana" panose="020B0604030504040204" pitchFamily="34" charset="0"/>
                <a:ea typeface="Verdana" panose="020B0604030504040204" pitchFamily="34" charset="0"/>
              </a:rPr>
              <a:t>External Entity: </a:t>
            </a:r>
          </a:p>
          <a:p>
            <a:pPr marL="0" indent="0" algn="just">
              <a:buNone/>
            </a:pPr>
            <a:endParaRPr lang="en-US" b="1" dirty="0" smtClean="0">
              <a:latin typeface="Verdana" panose="020B0604030504040204" pitchFamily="34" charset="0"/>
              <a:ea typeface="Verdana" panose="020B0604030504040204" pitchFamily="34" charset="0"/>
            </a:endParaRPr>
          </a:p>
          <a:p>
            <a:pPr algn="just"/>
            <a:r>
              <a:rPr lang="en-US" dirty="0" smtClean="0">
                <a:latin typeface="Verdana" panose="020B0604030504040204" pitchFamily="34" charset="0"/>
                <a:ea typeface="Verdana" panose="020B0604030504040204" pitchFamily="34" charset="0"/>
              </a:rPr>
              <a:t>An external entity is a source or destination of a data flow which is outside the area of study. Only those entities which originate or receive data are represented on a data flow diagram. The symbol used is square containing a meaningful and unique identifier. </a:t>
            </a:r>
            <a:endParaRPr lang="en-IN" dirty="0">
              <a:latin typeface="Verdana" panose="020B0604030504040204" pitchFamily="34" charset="0"/>
              <a:ea typeface="Verdana" panose="020B0604030504040204" pitchFamily="34" charset="0"/>
            </a:endParaRPr>
          </a:p>
        </p:txBody>
      </p:sp>
      <p:grpSp>
        <p:nvGrpSpPr>
          <p:cNvPr id="6" name="Group 5"/>
          <p:cNvGrpSpPr/>
          <p:nvPr/>
        </p:nvGrpSpPr>
        <p:grpSpPr>
          <a:xfrm>
            <a:off x="3971109" y="4167052"/>
            <a:ext cx="3513908" cy="1466612"/>
            <a:chOff x="3971109" y="4167052"/>
            <a:chExt cx="3513908" cy="1466612"/>
          </a:xfrm>
        </p:grpSpPr>
        <p:sp>
          <p:nvSpPr>
            <p:cNvPr id="4" name="Rectangle 3"/>
            <p:cNvSpPr/>
            <p:nvPr/>
          </p:nvSpPr>
          <p:spPr>
            <a:xfrm>
              <a:off x="3971109" y="4167052"/>
              <a:ext cx="3513908" cy="809898"/>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5" name="TextBox 4"/>
            <p:cNvSpPr txBox="1"/>
            <p:nvPr/>
          </p:nvSpPr>
          <p:spPr>
            <a:xfrm>
              <a:off x="4931228" y="5264332"/>
              <a:ext cx="1593670" cy="369332"/>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algn="ctr"/>
              <a:r>
                <a:rPr lang="en-IN" b="1" u="sng" dirty="0" smtClean="0"/>
                <a:t>External Entity</a:t>
              </a:r>
              <a:endParaRPr lang="en-IN" b="1" u="sng" dirty="0"/>
            </a:p>
          </p:txBody>
        </p:sp>
      </p:grpSp>
    </p:spTree>
    <p:extLst>
      <p:ext uri="{BB962C8B-B14F-4D97-AF65-F5344CB8AC3E}">
        <p14:creationId xmlns:p14="http://schemas.microsoft.com/office/powerpoint/2010/main" val="15399798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7567"/>
            <a:ext cx="10515600" cy="613953"/>
          </a:xfrm>
        </p:spPr>
        <p:txBody>
          <a:bodyPr>
            <a:normAutofit/>
          </a:bodyPr>
          <a:lstStyle/>
          <a:p>
            <a:r>
              <a:rPr lang="en-US" sz="2800" b="1" dirty="0">
                <a:latin typeface="Verdana" panose="020B0604030504040204" pitchFamily="34" charset="0"/>
                <a:ea typeface="Verdana" panose="020B0604030504040204" pitchFamily="34" charset="0"/>
              </a:rPr>
              <a:t>Notation for to Draw Data Flow Diagram: Contd.</a:t>
            </a:r>
            <a:endParaRPr lang="en-IN" sz="2800" dirty="0"/>
          </a:p>
        </p:txBody>
      </p:sp>
      <p:sp>
        <p:nvSpPr>
          <p:cNvPr id="3" name="Content Placeholder 2"/>
          <p:cNvSpPr>
            <a:spLocks noGrp="1"/>
          </p:cNvSpPr>
          <p:nvPr>
            <p:ph idx="1"/>
          </p:nvPr>
        </p:nvSpPr>
        <p:spPr>
          <a:xfrm>
            <a:off x="838200" y="731520"/>
            <a:ext cx="10515600" cy="6035040"/>
          </a:xfrm>
        </p:spPr>
        <p:txBody>
          <a:bodyPr/>
          <a:lstStyle/>
          <a:p>
            <a:pPr marL="0" indent="0" algn="just">
              <a:buNone/>
            </a:pPr>
            <a:r>
              <a:rPr lang="en-US" sz="3200" b="1" u="sng" dirty="0" smtClean="0">
                <a:latin typeface="Verdana" panose="020B0604030504040204" pitchFamily="34" charset="0"/>
                <a:ea typeface="Verdana" panose="020B0604030504040204" pitchFamily="34" charset="0"/>
              </a:rPr>
              <a:t>Process: </a:t>
            </a:r>
          </a:p>
          <a:p>
            <a:pPr algn="just"/>
            <a:r>
              <a:rPr lang="en-US" dirty="0" smtClean="0">
                <a:latin typeface="Verdana" panose="020B0604030504040204" pitchFamily="34" charset="0"/>
                <a:ea typeface="Verdana" panose="020B0604030504040204" pitchFamily="34" charset="0"/>
              </a:rPr>
              <a:t>A process shows a transformation or manipulation of data flows within the system. The symbol used is a rectangular box with rounded corner or a circle or an oval which contains 3 descriptive elements: </a:t>
            </a:r>
          </a:p>
          <a:p>
            <a:pPr marL="914400" lvl="1" indent="-457200" algn="just">
              <a:buFont typeface="+mj-lt"/>
              <a:buAutoNum type="arabicPeriod"/>
            </a:pPr>
            <a:r>
              <a:rPr lang="en-US" dirty="0" smtClean="0">
                <a:latin typeface="Verdana" panose="020B0604030504040204" pitchFamily="34" charset="0"/>
                <a:ea typeface="Verdana" panose="020B0604030504040204" pitchFamily="34" charset="0"/>
              </a:rPr>
              <a:t>Firstly an identification number appears in the upper left hand corner. This is allocated arbitrarily at the top level and serves as a unique reference. </a:t>
            </a:r>
            <a:endParaRPr lang="en-US" dirty="0">
              <a:latin typeface="Verdana" panose="020B0604030504040204" pitchFamily="34" charset="0"/>
              <a:ea typeface="Verdana" panose="020B0604030504040204" pitchFamily="34" charset="0"/>
            </a:endParaRPr>
          </a:p>
          <a:p>
            <a:pPr marL="914400" lvl="1" indent="-457200" algn="just">
              <a:buFont typeface="+mj-lt"/>
              <a:buAutoNum type="arabicPeriod"/>
            </a:pPr>
            <a:r>
              <a:rPr lang="en-US" dirty="0" smtClean="0">
                <a:latin typeface="Verdana" panose="020B0604030504040204" pitchFamily="34" charset="0"/>
                <a:ea typeface="Verdana" panose="020B0604030504040204" pitchFamily="34" charset="0"/>
              </a:rPr>
              <a:t>Secondly, a location appears to the right of the identifier and describes where in the system the process takes place. This may, for example, be a department or a piece of hardware. </a:t>
            </a:r>
            <a:endParaRPr lang="en-US" dirty="0">
              <a:latin typeface="Verdana" panose="020B0604030504040204" pitchFamily="34" charset="0"/>
              <a:ea typeface="Verdana" panose="020B0604030504040204" pitchFamily="34" charset="0"/>
            </a:endParaRPr>
          </a:p>
          <a:p>
            <a:pPr marL="914400" lvl="1" indent="-457200" algn="just">
              <a:buFont typeface="+mj-lt"/>
              <a:buAutoNum type="arabicPeriod"/>
            </a:pPr>
            <a:r>
              <a:rPr lang="en-US" dirty="0" smtClean="0">
                <a:latin typeface="Verdana" panose="020B0604030504040204" pitchFamily="34" charset="0"/>
                <a:ea typeface="Verdana" panose="020B0604030504040204" pitchFamily="34" charset="0"/>
              </a:rPr>
              <a:t>Finally, a descriptive title is placed in the center of the box. This should be a simple imperative sentence with a specific verb, for example 'maintain customer records' or 'find driver'.</a:t>
            </a:r>
            <a:endParaRPr lang="en-IN"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528647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95943"/>
            <a:ext cx="10515600" cy="705395"/>
          </a:xfrm>
        </p:spPr>
        <p:txBody>
          <a:bodyPr>
            <a:normAutofit/>
          </a:bodyPr>
          <a:lstStyle/>
          <a:p>
            <a:r>
              <a:rPr lang="en-US" sz="2800" b="1" dirty="0">
                <a:latin typeface="Verdana" panose="020B0604030504040204" pitchFamily="34" charset="0"/>
                <a:ea typeface="Verdana" panose="020B0604030504040204" pitchFamily="34" charset="0"/>
              </a:rPr>
              <a:t>Notation for to Draw Data Flow Diagram: Contd.</a:t>
            </a:r>
            <a:endParaRPr lang="en-IN" sz="2800" dirty="0"/>
          </a:p>
        </p:txBody>
      </p:sp>
      <p:sp>
        <p:nvSpPr>
          <p:cNvPr id="3" name="Content Placeholder 2"/>
          <p:cNvSpPr>
            <a:spLocks noGrp="1"/>
          </p:cNvSpPr>
          <p:nvPr>
            <p:ph idx="1"/>
          </p:nvPr>
        </p:nvSpPr>
        <p:spPr>
          <a:xfrm>
            <a:off x="838200" y="901338"/>
            <a:ext cx="10515600" cy="5275625"/>
          </a:xfrm>
        </p:spPr>
        <p:txBody>
          <a:bodyPr/>
          <a:lstStyle/>
          <a:p>
            <a:pPr marL="0" indent="0" algn="just">
              <a:buNone/>
            </a:pPr>
            <a:r>
              <a:rPr lang="en-US" b="1" u="sng" dirty="0">
                <a:latin typeface="Verdana" panose="020B0604030504040204" pitchFamily="34" charset="0"/>
                <a:ea typeface="Verdana" panose="020B0604030504040204" pitchFamily="34" charset="0"/>
              </a:rPr>
              <a:t>Process: </a:t>
            </a:r>
          </a:p>
        </p:txBody>
      </p:sp>
      <p:grpSp>
        <p:nvGrpSpPr>
          <p:cNvPr id="11" name="Group 10"/>
          <p:cNvGrpSpPr/>
          <p:nvPr/>
        </p:nvGrpSpPr>
        <p:grpSpPr>
          <a:xfrm>
            <a:off x="1686196" y="2625634"/>
            <a:ext cx="8437518" cy="2290465"/>
            <a:chOff x="1686196" y="2625634"/>
            <a:chExt cx="8437518" cy="2290465"/>
          </a:xfrm>
        </p:grpSpPr>
        <p:sp>
          <p:nvSpPr>
            <p:cNvPr id="5" name="Rounded Rectangle 4"/>
            <p:cNvSpPr/>
            <p:nvPr/>
          </p:nvSpPr>
          <p:spPr>
            <a:xfrm>
              <a:off x="1686196" y="2808514"/>
              <a:ext cx="2011680" cy="1097280"/>
            </a:xfrm>
            <a:prstGeom prst="round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6" name="TextBox 5"/>
            <p:cNvSpPr txBox="1"/>
            <p:nvPr/>
          </p:nvSpPr>
          <p:spPr>
            <a:xfrm>
              <a:off x="4089762" y="3161213"/>
              <a:ext cx="402771" cy="369332"/>
            </a:xfrm>
            <a:prstGeom prst="rect">
              <a:avLst/>
            </a:prstGeom>
            <a:noFill/>
          </p:spPr>
          <p:txBody>
            <a:bodyPr wrap="square" rtlCol="0">
              <a:spAutoFit/>
            </a:bodyPr>
            <a:lstStyle/>
            <a:p>
              <a:r>
                <a:rPr lang="en-IN" dirty="0" smtClean="0"/>
                <a:t>or</a:t>
              </a:r>
              <a:endParaRPr lang="en-IN" dirty="0"/>
            </a:p>
          </p:txBody>
        </p:sp>
        <p:sp>
          <p:nvSpPr>
            <p:cNvPr id="7" name="Oval 6"/>
            <p:cNvSpPr/>
            <p:nvPr/>
          </p:nvSpPr>
          <p:spPr>
            <a:xfrm>
              <a:off x="4794066" y="2625634"/>
              <a:ext cx="1619794" cy="1423851"/>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8" name="TextBox 7"/>
            <p:cNvSpPr txBox="1"/>
            <p:nvPr/>
          </p:nvSpPr>
          <p:spPr>
            <a:xfrm>
              <a:off x="6650085" y="3129745"/>
              <a:ext cx="402771" cy="369332"/>
            </a:xfrm>
            <a:prstGeom prst="rect">
              <a:avLst/>
            </a:prstGeom>
            <a:noFill/>
          </p:spPr>
          <p:txBody>
            <a:bodyPr wrap="square" rtlCol="0">
              <a:spAutoFit/>
            </a:bodyPr>
            <a:lstStyle/>
            <a:p>
              <a:r>
                <a:rPr lang="en-IN" dirty="0" smtClean="0"/>
                <a:t>or</a:t>
              </a:r>
              <a:endParaRPr lang="en-IN" dirty="0"/>
            </a:p>
          </p:txBody>
        </p:sp>
        <p:sp>
          <p:nvSpPr>
            <p:cNvPr id="9" name="Oval 8"/>
            <p:cNvSpPr/>
            <p:nvPr/>
          </p:nvSpPr>
          <p:spPr>
            <a:xfrm>
              <a:off x="7354389" y="2743197"/>
              <a:ext cx="2769325" cy="1201783"/>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10" name="TextBox 9"/>
            <p:cNvSpPr txBox="1"/>
            <p:nvPr/>
          </p:nvSpPr>
          <p:spPr>
            <a:xfrm>
              <a:off x="5225143" y="4454434"/>
              <a:ext cx="1149531" cy="461665"/>
            </a:xfrm>
            <a:prstGeom prst="rect">
              <a:avLst/>
            </a:prstGeom>
            <a:noFill/>
          </p:spPr>
          <p:txBody>
            <a:bodyPr wrap="square" rtlCol="0">
              <a:spAutoFit/>
            </a:bodyPr>
            <a:lstStyle/>
            <a:p>
              <a:r>
                <a:rPr lang="en-IN" sz="2400" b="1" u="sng" dirty="0" smtClean="0"/>
                <a:t>Process</a:t>
              </a:r>
              <a:endParaRPr lang="en-IN" sz="2400" b="1" u="sng" dirty="0"/>
            </a:p>
          </p:txBody>
        </p:sp>
      </p:grpSp>
    </p:spTree>
    <p:extLst>
      <p:ext uri="{BB962C8B-B14F-4D97-AF65-F5344CB8AC3E}">
        <p14:creationId xmlns:p14="http://schemas.microsoft.com/office/powerpoint/2010/main" val="15837746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6755"/>
            <a:ext cx="10515600" cy="548639"/>
          </a:xfrm>
        </p:spPr>
        <p:txBody>
          <a:bodyPr>
            <a:normAutofit/>
          </a:bodyPr>
          <a:lstStyle/>
          <a:p>
            <a:r>
              <a:rPr lang="en-US" sz="2800" b="1" dirty="0">
                <a:latin typeface="Verdana" panose="020B0604030504040204" pitchFamily="34" charset="0"/>
                <a:ea typeface="Verdana" panose="020B0604030504040204" pitchFamily="34" charset="0"/>
              </a:rPr>
              <a:t>Notation for to Draw Data Flow Diagram: Contd.</a:t>
            </a:r>
            <a:endParaRPr lang="en-IN" sz="2800" dirty="0"/>
          </a:p>
        </p:txBody>
      </p:sp>
      <p:sp>
        <p:nvSpPr>
          <p:cNvPr id="3" name="Content Placeholder 2"/>
          <p:cNvSpPr>
            <a:spLocks noGrp="1"/>
          </p:cNvSpPr>
          <p:nvPr>
            <p:ph idx="1"/>
          </p:nvPr>
        </p:nvSpPr>
        <p:spPr>
          <a:xfrm>
            <a:off x="838200" y="705394"/>
            <a:ext cx="10515600" cy="5969726"/>
          </a:xfrm>
        </p:spPr>
        <p:txBody>
          <a:bodyPr/>
          <a:lstStyle/>
          <a:p>
            <a:pPr marL="0" indent="0">
              <a:buNone/>
            </a:pPr>
            <a:r>
              <a:rPr lang="en-US" b="1" dirty="0" smtClean="0">
                <a:latin typeface="Verdana" panose="020B0604030504040204" pitchFamily="34" charset="0"/>
                <a:ea typeface="Verdana" panose="020B0604030504040204" pitchFamily="34" charset="0"/>
              </a:rPr>
              <a:t>Data Flow: </a:t>
            </a:r>
          </a:p>
          <a:p>
            <a:r>
              <a:rPr lang="en-US" dirty="0" smtClean="0"/>
              <a:t>A data flow shows the flow of information from its source to its destination. A data flow is represented by a line, with arrowheads showing the direction of flow. Information always flows to or from a process and may be written, verbal or electronic. Each data flow may be referenced by the processes or data stores at its head and tail, or by a description of its contents. </a:t>
            </a:r>
            <a:endParaRPr lang="en-IN" dirty="0"/>
          </a:p>
        </p:txBody>
      </p:sp>
      <p:grpSp>
        <p:nvGrpSpPr>
          <p:cNvPr id="21" name="Group 20"/>
          <p:cNvGrpSpPr/>
          <p:nvPr/>
        </p:nvGrpSpPr>
        <p:grpSpPr>
          <a:xfrm>
            <a:off x="3905794" y="4023360"/>
            <a:ext cx="4101737" cy="1463040"/>
            <a:chOff x="3905794" y="4023360"/>
            <a:chExt cx="4101737" cy="1463040"/>
          </a:xfrm>
        </p:grpSpPr>
        <p:cxnSp>
          <p:nvCxnSpPr>
            <p:cNvPr id="5" name="Straight Arrow Connector 4"/>
            <p:cNvCxnSpPr/>
            <p:nvPr/>
          </p:nvCxnSpPr>
          <p:spPr>
            <a:xfrm flipV="1">
              <a:off x="3905794" y="4402183"/>
              <a:ext cx="1867989" cy="1306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 name="Straight Arrow Connector 10"/>
            <p:cNvCxnSpPr/>
            <p:nvPr/>
          </p:nvCxnSpPr>
          <p:spPr>
            <a:xfrm flipH="1">
              <a:off x="3905794" y="4937760"/>
              <a:ext cx="186799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8" name="Straight Arrow Connector 17"/>
            <p:cNvCxnSpPr/>
            <p:nvPr/>
          </p:nvCxnSpPr>
          <p:spPr>
            <a:xfrm>
              <a:off x="7445829" y="4036423"/>
              <a:ext cx="0" cy="143691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0" name="Straight Arrow Connector 19"/>
            <p:cNvCxnSpPr/>
            <p:nvPr/>
          </p:nvCxnSpPr>
          <p:spPr>
            <a:xfrm flipV="1">
              <a:off x="8007531" y="4023360"/>
              <a:ext cx="0" cy="146304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Tree>
    <p:extLst>
      <p:ext uri="{BB962C8B-B14F-4D97-AF65-F5344CB8AC3E}">
        <p14:creationId xmlns:p14="http://schemas.microsoft.com/office/powerpoint/2010/main" val="42625294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6755"/>
            <a:ext cx="10515600" cy="600891"/>
          </a:xfrm>
        </p:spPr>
        <p:txBody>
          <a:bodyPr>
            <a:normAutofit/>
          </a:bodyPr>
          <a:lstStyle/>
          <a:p>
            <a:r>
              <a:rPr lang="en-US" sz="2800" b="1" dirty="0">
                <a:latin typeface="Verdana" panose="020B0604030504040204" pitchFamily="34" charset="0"/>
                <a:ea typeface="Verdana" panose="020B0604030504040204" pitchFamily="34" charset="0"/>
              </a:rPr>
              <a:t>Notation for to Draw Data Flow Diagram: Contd.</a:t>
            </a:r>
            <a:endParaRPr lang="en-IN" sz="2800" dirty="0"/>
          </a:p>
        </p:txBody>
      </p:sp>
      <p:sp>
        <p:nvSpPr>
          <p:cNvPr id="3" name="Content Placeholder 2"/>
          <p:cNvSpPr>
            <a:spLocks noGrp="1"/>
          </p:cNvSpPr>
          <p:nvPr>
            <p:ph idx="1"/>
          </p:nvPr>
        </p:nvSpPr>
        <p:spPr>
          <a:xfrm>
            <a:off x="838200" y="757646"/>
            <a:ext cx="10515600" cy="5982788"/>
          </a:xfrm>
        </p:spPr>
        <p:txBody>
          <a:bodyPr/>
          <a:lstStyle/>
          <a:p>
            <a:pPr marL="0" indent="0">
              <a:buNone/>
            </a:pPr>
            <a:r>
              <a:rPr lang="en-US" sz="2400" b="1" u="sng" dirty="0" smtClean="0">
                <a:latin typeface="Verdana" panose="020B0604030504040204" pitchFamily="34" charset="0"/>
                <a:ea typeface="Verdana" panose="020B0604030504040204" pitchFamily="34" charset="0"/>
              </a:rPr>
              <a:t>Data Store: </a:t>
            </a:r>
          </a:p>
          <a:p>
            <a:r>
              <a:rPr lang="en-US" dirty="0" smtClean="0"/>
              <a:t>A data store is a holding place for information within the system.</a:t>
            </a:r>
          </a:p>
          <a:p>
            <a:endParaRPr lang="en-US" dirty="0"/>
          </a:p>
          <a:p>
            <a:r>
              <a:rPr lang="en-US" dirty="0" smtClean="0"/>
              <a:t>It is represented by an open ended narrow rectangle. Data stores may be long-term files such as sales ledgers, or may be short-term accumulations: for example batches of documents that are waiting to be processed. Each data store should be given a reference followed by an arbitrary number. </a:t>
            </a:r>
            <a:endParaRPr lang="en-IN" dirty="0"/>
          </a:p>
        </p:txBody>
      </p:sp>
      <p:grpSp>
        <p:nvGrpSpPr>
          <p:cNvPr id="24" name="Group 23"/>
          <p:cNvGrpSpPr/>
          <p:nvPr/>
        </p:nvGrpSpPr>
        <p:grpSpPr>
          <a:xfrm>
            <a:off x="2821578" y="4428308"/>
            <a:ext cx="6596742" cy="1687680"/>
            <a:chOff x="2821578" y="4428308"/>
            <a:chExt cx="6596742" cy="1687680"/>
          </a:xfrm>
        </p:grpSpPr>
        <p:cxnSp>
          <p:nvCxnSpPr>
            <p:cNvPr id="5" name="Straight Connector 4"/>
            <p:cNvCxnSpPr/>
            <p:nvPr/>
          </p:nvCxnSpPr>
          <p:spPr>
            <a:xfrm>
              <a:off x="2821578" y="4441373"/>
              <a:ext cx="2468880" cy="13063"/>
            </a:xfrm>
            <a:prstGeom prst="line">
              <a:avLst/>
            </a:prstGeom>
          </p:spPr>
          <p:style>
            <a:lnRef idx="3">
              <a:schemeClr val="dk1"/>
            </a:lnRef>
            <a:fillRef idx="0">
              <a:schemeClr val="dk1"/>
            </a:fillRef>
            <a:effectRef idx="2">
              <a:schemeClr val="dk1"/>
            </a:effectRef>
            <a:fontRef idx="minor">
              <a:schemeClr val="tx1"/>
            </a:fontRef>
          </p:style>
        </p:cxnSp>
        <p:cxnSp>
          <p:nvCxnSpPr>
            <p:cNvPr id="6" name="Straight Connector 5"/>
            <p:cNvCxnSpPr/>
            <p:nvPr/>
          </p:nvCxnSpPr>
          <p:spPr>
            <a:xfrm>
              <a:off x="2843348" y="4959537"/>
              <a:ext cx="2468880" cy="13063"/>
            </a:xfrm>
            <a:prstGeom prst="line">
              <a:avLst/>
            </a:prstGeom>
          </p:spPr>
          <p:style>
            <a:lnRef idx="3">
              <a:schemeClr val="dk1"/>
            </a:lnRef>
            <a:fillRef idx="0">
              <a:schemeClr val="dk1"/>
            </a:fillRef>
            <a:effectRef idx="2">
              <a:schemeClr val="dk1"/>
            </a:effectRef>
            <a:fontRef idx="minor">
              <a:schemeClr val="tx1"/>
            </a:fontRef>
          </p:style>
        </p:cxnSp>
        <p:sp>
          <p:nvSpPr>
            <p:cNvPr id="7" name="TextBox 6"/>
            <p:cNvSpPr txBox="1"/>
            <p:nvPr/>
          </p:nvSpPr>
          <p:spPr>
            <a:xfrm>
              <a:off x="5476602" y="5746656"/>
              <a:ext cx="1238795" cy="369332"/>
            </a:xfrm>
            <a:prstGeom prst="rect">
              <a:avLst/>
            </a:prstGeom>
            <a:noFill/>
          </p:spPr>
          <p:txBody>
            <a:bodyPr wrap="square" rtlCol="0">
              <a:spAutoFit/>
            </a:bodyPr>
            <a:lstStyle/>
            <a:p>
              <a:pPr algn="ctr"/>
              <a:r>
                <a:rPr lang="en-IN" b="1" u="sng" dirty="0" smtClean="0"/>
                <a:t>Database</a:t>
              </a:r>
              <a:endParaRPr lang="en-IN" b="1" u="sng" dirty="0"/>
            </a:p>
          </p:txBody>
        </p:sp>
        <p:grpSp>
          <p:nvGrpSpPr>
            <p:cNvPr id="23" name="Group 22"/>
            <p:cNvGrpSpPr/>
            <p:nvPr/>
          </p:nvGrpSpPr>
          <p:grpSpPr>
            <a:xfrm>
              <a:off x="6818811" y="4428308"/>
              <a:ext cx="2599509" cy="731522"/>
              <a:chOff x="6818811" y="4428308"/>
              <a:chExt cx="2599509" cy="731522"/>
            </a:xfrm>
          </p:grpSpPr>
          <p:cxnSp>
            <p:nvCxnSpPr>
              <p:cNvPr id="9" name="Straight Connector 8"/>
              <p:cNvCxnSpPr/>
              <p:nvPr/>
            </p:nvCxnSpPr>
            <p:spPr>
              <a:xfrm flipV="1">
                <a:off x="6831874" y="4428308"/>
                <a:ext cx="2586446" cy="13065"/>
              </a:xfrm>
              <a:prstGeom prst="line">
                <a:avLst/>
              </a:prstGeom>
            </p:spPr>
            <p:style>
              <a:lnRef idx="3">
                <a:schemeClr val="dk1"/>
              </a:lnRef>
              <a:fillRef idx="0">
                <a:schemeClr val="dk1"/>
              </a:fillRef>
              <a:effectRef idx="2">
                <a:schemeClr val="dk1"/>
              </a:effectRef>
              <a:fontRef idx="minor">
                <a:schemeClr val="tx1"/>
              </a:fontRef>
            </p:style>
          </p:cxnSp>
          <p:cxnSp>
            <p:nvCxnSpPr>
              <p:cNvPr id="11" name="Straight Connector 10"/>
              <p:cNvCxnSpPr/>
              <p:nvPr/>
            </p:nvCxnSpPr>
            <p:spPr>
              <a:xfrm>
                <a:off x="6831874" y="4428308"/>
                <a:ext cx="0" cy="731521"/>
              </a:xfrm>
              <a:prstGeom prst="line">
                <a:avLst/>
              </a:prstGeom>
            </p:spPr>
            <p:style>
              <a:lnRef idx="3">
                <a:schemeClr val="dk1"/>
              </a:lnRef>
              <a:fillRef idx="0">
                <a:schemeClr val="dk1"/>
              </a:fillRef>
              <a:effectRef idx="2">
                <a:schemeClr val="dk1"/>
              </a:effectRef>
              <a:fontRef idx="minor">
                <a:schemeClr val="tx1"/>
              </a:fontRef>
            </p:style>
          </p:cxnSp>
          <p:cxnSp>
            <p:nvCxnSpPr>
              <p:cNvPr id="13" name="Straight Connector 12"/>
              <p:cNvCxnSpPr/>
              <p:nvPr/>
            </p:nvCxnSpPr>
            <p:spPr>
              <a:xfrm flipV="1">
                <a:off x="6818811" y="5146765"/>
                <a:ext cx="2586446" cy="13065"/>
              </a:xfrm>
              <a:prstGeom prst="line">
                <a:avLst/>
              </a:prstGeom>
            </p:spPr>
            <p:style>
              <a:lnRef idx="3">
                <a:schemeClr val="dk1"/>
              </a:lnRef>
              <a:fillRef idx="0">
                <a:schemeClr val="dk1"/>
              </a:fillRef>
              <a:effectRef idx="2">
                <a:schemeClr val="dk1"/>
              </a:effectRef>
              <a:fontRef idx="minor">
                <a:schemeClr val="tx1"/>
              </a:fontRef>
            </p:style>
          </p:cxnSp>
        </p:grpSp>
      </p:grpSp>
    </p:spTree>
    <p:extLst>
      <p:ext uri="{BB962C8B-B14F-4D97-AF65-F5344CB8AC3E}">
        <p14:creationId xmlns:p14="http://schemas.microsoft.com/office/powerpoint/2010/main" val="17983801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299</TotalTime>
  <Words>1166</Words>
  <Application>Microsoft Office PowerPoint</Application>
  <PresentationFormat>Widescreen</PresentationFormat>
  <Paragraphs>90</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Calibri Light</vt:lpstr>
      <vt:lpstr>Verdana</vt:lpstr>
      <vt:lpstr>Office Theme</vt:lpstr>
      <vt:lpstr>Context Analysis Diagram</vt:lpstr>
      <vt:lpstr>Context Analysis Diagram: An Introduction</vt:lpstr>
      <vt:lpstr>Context Analysis Diagram: Contd.</vt:lpstr>
      <vt:lpstr>Data Flow Diagram (DFD)</vt:lpstr>
      <vt:lpstr>Why DFD?</vt:lpstr>
      <vt:lpstr>Rules For Constructing a DFD</vt:lpstr>
      <vt:lpstr>How to develop Data Flow Diagram?</vt:lpstr>
      <vt:lpstr>Diagram: Example of DFD flow</vt:lpstr>
      <vt:lpstr>Notation for to Draw Data Flow Diagram </vt:lpstr>
      <vt:lpstr>Notation for to Draw Data Flow Diagram: Contd.</vt:lpstr>
      <vt:lpstr>Notation for to Draw Data Flow Diagram: Contd.</vt:lpstr>
      <vt:lpstr>Notation for to Draw Data Flow Diagram: Contd.</vt:lpstr>
      <vt:lpstr>Notation for to Draw Data Flow Diagram: Contd.</vt:lpstr>
      <vt:lpstr>Notation for to Draw Data Flow Diagram: Contd.</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FLOW DIAGRAM</dc:title>
  <dc:creator>Tanweer Alam</dc:creator>
  <cp:lastModifiedBy>Tanweer Alam</cp:lastModifiedBy>
  <cp:revision>20</cp:revision>
  <dcterms:created xsi:type="dcterms:W3CDTF">2023-02-01T13:17:41Z</dcterms:created>
  <dcterms:modified xsi:type="dcterms:W3CDTF">2023-02-09T14:58:59Z</dcterms:modified>
</cp:coreProperties>
</file>